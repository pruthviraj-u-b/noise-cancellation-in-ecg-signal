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259" r:id="rId4"/>
    <p:sldId id="262" r:id="rId5"/>
    <p:sldId id="263" r:id="rId6"/>
    <p:sldId id="264" r:id="rId7"/>
    <p:sldId id="265" r:id="rId8"/>
    <p:sldId id="266" r:id="rId9"/>
    <p:sldId id="267" r:id="rId10"/>
    <p:sldId id="729" r:id="rId11"/>
    <p:sldId id="272" r:id="rId12"/>
    <p:sldId id="271" r:id="rId13"/>
    <p:sldId id="732" r:id="rId14"/>
    <p:sldId id="733" r:id="rId15"/>
    <p:sldId id="734" r:id="rId16"/>
    <p:sldId id="735" r:id="rId17"/>
    <p:sldId id="736" r:id="rId18"/>
    <p:sldId id="260" r:id="rId19"/>
    <p:sldId id="261" r:id="rId20"/>
    <p:sldId id="268" r:id="rId21"/>
    <p:sldId id="270" r:id="rId22"/>
    <p:sldId id="269" r:id="rId23"/>
    <p:sldId id="273" r:id="rId24"/>
    <p:sldId id="274" r:id="rId25"/>
    <p:sldId id="280" r:id="rId26"/>
    <p:sldId id="275" r:id="rId27"/>
    <p:sldId id="279" r:id="rId28"/>
    <p:sldId id="276" r:id="rId29"/>
    <p:sldId id="73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34"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7ACBE7-4E09-4725-8ED5-D2AA6BAB3AAB}" type="datetimeFigureOut">
              <a:rPr lang="en-IN" smtClean="0"/>
              <a:t>14-06-2026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57014A-FB7D-4330-AB11-43DCDCD3AA29}" type="slidenum">
              <a:rPr lang="en-IN" smtClean="0"/>
              <a:t>‹#›</a:t>
            </a:fld>
            <a:endParaRPr lang="en-IN"/>
          </a:p>
        </p:txBody>
      </p:sp>
    </p:spTree>
    <p:extLst>
      <p:ext uri="{BB962C8B-B14F-4D97-AF65-F5344CB8AC3E}">
        <p14:creationId xmlns:p14="http://schemas.microsoft.com/office/powerpoint/2010/main" val="1003338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10FCB-200C-2B43-9885-E5F441D2F037}" type="slidenum">
              <a:rPr lang="en-US" smtClean="0"/>
              <a:pPr/>
              <a:t>10</a:t>
            </a:fld>
            <a:endParaRPr lang="en-US"/>
          </a:p>
        </p:txBody>
      </p:sp>
    </p:spTree>
    <p:extLst>
      <p:ext uri="{BB962C8B-B14F-4D97-AF65-F5344CB8AC3E}">
        <p14:creationId xmlns:p14="http://schemas.microsoft.com/office/powerpoint/2010/main" val="758694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C0FA0AA-5798-4FA2-AAFA-11B87A40034C}" type="slidenum">
              <a:rPr lang="en-IN" smtClean="0"/>
              <a:t>20</a:t>
            </a:fld>
            <a:endParaRPr lang="en-IN"/>
          </a:p>
        </p:txBody>
      </p:sp>
    </p:spTree>
    <p:extLst>
      <p:ext uri="{BB962C8B-B14F-4D97-AF65-F5344CB8AC3E}">
        <p14:creationId xmlns:p14="http://schemas.microsoft.com/office/powerpoint/2010/main" val="838465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D58A0-7A6D-5A69-40D0-B10A50127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0BDBA-3BD7-142A-13A8-34550C6976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6BD2D-45B6-1B15-FFA0-36E16F00A4E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FC746EC-39AC-39CE-D210-7C91443E4D33}"/>
              </a:ext>
            </a:extLst>
          </p:cNvPr>
          <p:cNvSpPr>
            <a:spLocks noGrp="1"/>
          </p:cNvSpPr>
          <p:nvPr>
            <p:ph type="sldNum" sz="quarter" idx="5"/>
          </p:nvPr>
        </p:nvSpPr>
        <p:spPr/>
        <p:txBody>
          <a:bodyPr/>
          <a:lstStyle/>
          <a:p>
            <a:fld id="{4C0FA0AA-5798-4FA2-AAFA-11B87A40034C}" type="slidenum">
              <a:rPr lang="en-IN" smtClean="0"/>
              <a:t>21</a:t>
            </a:fld>
            <a:endParaRPr lang="en-IN"/>
          </a:p>
        </p:txBody>
      </p:sp>
    </p:spTree>
    <p:extLst>
      <p:ext uri="{BB962C8B-B14F-4D97-AF65-F5344CB8AC3E}">
        <p14:creationId xmlns:p14="http://schemas.microsoft.com/office/powerpoint/2010/main" val="3252219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11A9B-2741-276B-BF33-4FB40212C3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BFB64F-CE24-2AF6-0B7E-8099AE8313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230595-96A7-3ECE-70A1-ACB27EE8E0E0}"/>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5" name="Footer Placeholder 4">
            <a:extLst>
              <a:ext uri="{FF2B5EF4-FFF2-40B4-BE49-F238E27FC236}">
                <a16:creationId xmlns:a16="http://schemas.microsoft.com/office/drawing/2014/main" id="{CC751AAB-66D6-21C4-6BCF-DB849CC31A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DC53A-A33F-71F6-19D3-6C42EFD04E41}"/>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1399449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BFFAD-B770-C60B-F6CA-876F5F31F1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7E1A02-6890-0DCD-2663-7E7C795F59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3C4757-4AB8-B7EB-C75C-F030D56CAC56}"/>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5" name="Footer Placeholder 4">
            <a:extLst>
              <a:ext uri="{FF2B5EF4-FFF2-40B4-BE49-F238E27FC236}">
                <a16:creationId xmlns:a16="http://schemas.microsoft.com/office/drawing/2014/main" id="{32AF5A34-4782-EC71-661F-AC1453035C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C50CCF-0E17-C808-E7BE-CD3AADA8BDFA}"/>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1813665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176E-BC42-7C48-DDF9-F2ECB243CD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8D8226F-B066-0A35-D467-44D12DA6D8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3ECAAA-E737-FC38-A06A-059731D520FA}"/>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5" name="Footer Placeholder 4">
            <a:extLst>
              <a:ext uri="{FF2B5EF4-FFF2-40B4-BE49-F238E27FC236}">
                <a16:creationId xmlns:a16="http://schemas.microsoft.com/office/drawing/2014/main" id="{0FF3C990-6DB0-82C6-C119-A5FDF36B39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592F78-1584-1829-3888-ECDFD755238F}"/>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3223510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FEE47-63ED-1EC1-5627-D73BBCF0E3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00E12C-161C-AA72-07B2-7E716E989A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0A99CE-80F7-AFAE-2668-77BE9D9AD1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AAE3DB-4F92-5957-C8BF-7437C8A0FB03}"/>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6" name="Footer Placeholder 5">
            <a:extLst>
              <a:ext uri="{FF2B5EF4-FFF2-40B4-BE49-F238E27FC236}">
                <a16:creationId xmlns:a16="http://schemas.microsoft.com/office/drawing/2014/main" id="{C0CD9ECB-3939-AD3C-D419-4DF2A87CE4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10C40A-0AEA-65A1-116A-F46ACC518C8D}"/>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1725015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CD4E-C310-2C1E-E802-6114768D73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AC4B2D-6BA9-03CB-0D9D-4715864D69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9440DD-FDCC-93ED-CAC1-AC4C653FEC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50A459-4DF4-955B-A804-F3504FCB07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157A28-523B-610B-3C29-8291458540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B5309A-26C0-AF7E-1C29-9F334AC1CA79}"/>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8" name="Footer Placeholder 7">
            <a:extLst>
              <a:ext uri="{FF2B5EF4-FFF2-40B4-BE49-F238E27FC236}">
                <a16:creationId xmlns:a16="http://schemas.microsoft.com/office/drawing/2014/main" id="{26F0D17B-BF22-C588-AE8E-093F5026B8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0BBBC6-8725-77ED-17DB-12E50B6C3704}"/>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2764206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987C5-D90E-F3FB-73A6-5178A9890B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C31268D-55B0-E1F5-CFBE-0B3BF8CD1227}"/>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4" name="Footer Placeholder 3">
            <a:extLst>
              <a:ext uri="{FF2B5EF4-FFF2-40B4-BE49-F238E27FC236}">
                <a16:creationId xmlns:a16="http://schemas.microsoft.com/office/drawing/2014/main" id="{4011635C-3E9A-DD08-9EFA-0D88604552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0A6A52-8ACD-458B-7E28-403D3487D3CC}"/>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1801644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9BC8BB-1648-42C1-48BE-A9B11F40B550}"/>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3" name="Footer Placeholder 2">
            <a:extLst>
              <a:ext uri="{FF2B5EF4-FFF2-40B4-BE49-F238E27FC236}">
                <a16:creationId xmlns:a16="http://schemas.microsoft.com/office/drawing/2014/main" id="{084735FF-82F4-838B-7453-17A91288AB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69F5C2-0F1E-353F-D6E1-2B8D32A6F4CB}"/>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2241368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ADAC-D734-4CA1-EEDF-ADDD1581E5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8A7A3C0-C56D-FFCD-3832-C581B0B84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1C478C1-4C4E-46D8-D4A4-09D5CE2188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B62CD9-9F59-F3D2-557B-291F9A442CCA}"/>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6" name="Footer Placeholder 5">
            <a:extLst>
              <a:ext uri="{FF2B5EF4-FFF2-40B4-BE49-F238E27FC236}">
                <a16:creationId xmlns:a16="http://schemas.microsoft.com/office/drawing/2014/main" id="{A918719E-D05B-2560-0FE3-19B2F404E5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6C8712-C9D3-21D8-4FC8-4A7A8884EB5B}"/>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1992669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0D4F6-ABE4-8F6E-61A9-91A6F69642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E3574E8-8922-4B06-3905-4696ED3DC5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5E1D4A-79D3-2120-2F27-90B7E11B5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C6CBC1-8BEB-1CE9-3580-EFBAAC90651F}"/>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6" name="Footer Placeholder 5">
            <a:extLst>
              <a:ext uri="{FF2B5EF4-FFF2-40B4-BE49-F238E27FC236}">
                <a16:creationId xmlns:a16="http://schemas.microsoft.com/office/drawing/2014/main" id="{55141DF2-2F19-8A93-E2AA-20BBF84B3B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35C733-BFD8-9392-8C7F-B1F7E305830C}"/>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4283690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7C828-8377-B937-0647-6FC61B04FD6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EACCAD-EE9A-B206-B59C-DBC6A74BD7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B67153-FC6A-AF45-7482-A0067CDE7930}"/>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5" name="Footer Placeholder 4">
            <a:extLst>
              <a:ext uri="{FF2B5EF4-FFF2-40B4-BE49-F238E27FC236}">
                <a16:creationId xmlns:a16="http://schemas.microsoft.com/office/drawing/2014/main" id="{255C2797-7EBF-CBE1-6FB2-32FD2B6FC2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EA4CB4-3AF6-4211-F2EB-6AF333ECB641}"/>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1762310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F1FBAB-59B4-2FD6-CD9C-C4532BD099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BF55BF-8CAF-4492-78E1-35446F6931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7CA4EF-86BA-F4B5-DE7F-FC0D541207B1}"/>
              </a:ext>
            </a:extLst>
          </p:cNvPr>
          <p:cNvSpPr>
            <a:spLocks noGrp="1"/>
          </p:cNvSpPr>
          <p:nvPr>
            <p:ph type="dt" sz="half" idx="10"/>
          </p:nvPr>
        </p:nvSpPr>
        <p:spPr/>
        <p:txBody>
          <a:bodyPr/>
          <a:lstStyle/>
          <a:p>
            <a:fld id="{F327AED2-DB78-4891-B36C-7F6BF1AC019B}" type="datetimeFigureOut">
              <a:rPr lang="en-IN" smtClean="0"/>
              <a:t>14-06-2026</a:t>
            </a:fld>
            <a:endParaRPr lang="en-IN"/>
          </a:p>
        </p:txBody>
      </p:sp>
      <p:sp>
        <p:nvSpPr>
          <p:cNvPr id="5" name="Footer Placeholder 4">
            <a:extLst>
              <a:ext uri="{FF2B5EF4-FFF2-40B4-BE49-F238E27FC236}">
                <a16:creationId xmlns:a16="http://schemas.microsoft.com/office/drawing/2014/main" id="{57FEC8B0-C0DD-DDF9-B127-B410193BD0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29E5F6-5CEA-DB9E-E294-8BE97B2CCFB3}"/>
              </a:ext>
            </a:extLst>
          </p:cNvPr>
          <p:cNvSpPr>
            <a:spLocks noGrp="1"/>
          </p:cNvSpPr>
          <p:nvPr>
            <p:ph type="sldNum" sz="quarter" idx="12"/>
          </p:nvPr>
        </p:nvSpPr>
        <p:spPr/>
        <p:txBody>
          <a:bodyPr/>
          <a:lstStyle/>
          <a:p>
            <a:fld id="{7B053EC4-1BC2-4A35-B30A-618D620B6A13}" type="slidenum">
              <a:rPr lang="en-IN" smtClean="0"/>
              <a:t>‹#›</a:t>
            </a:fld>
            <a:endParaRPr lang="en-IN"/>
          </a:p>
        </p:txBody>
      </p:sp>
    </p:spTree>
    <p:extLst>
      <p:ext uri="{BB962C8B-B14F-4D97-AF65-F5344CB8AC3E}">
        <p14:creationId xmlns:p14="http://schemas.microsoft.com/office/powerpoint/2010/main" val="2832603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F95A32-DB7F-2639-3998-5F3A5EDE20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5F9E6E-9152-EA64-FA53-B36DFC00E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FBDEF4-52C7-844B-5C08-B8A41B84F3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27AED2-DB78-4891-B36C-7F6BF1AC019B}" type="datetimeFigureOut">
              <a:rPr lang="en-IN" smtClean="0"/>
              <a:t>14-06-2026</a:t>
            </a:fld>
            <a:endParaRPr lang="en-IN"/>
          </a:p>
        </p:txBody>
      </p:sp>
      <p:sp>
        <p:nvSpPr>
          <p:cNvPr id="5" name="Footer Placeholder 4">
            <a:extLst>
              <a:ext uri="{FF2B5EF4-FFF2-40B4-BE49-F238E27FC236}">
                <a16:creationId xmlns:a16="http://schemas.microsoft.com/office/drawing/2014/main" id="{2B7E8EDE-69C8-3D45-724C-EE19E8AD98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FE6820-7124-CE1D-FB3F-DFC1EED260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053EC4-1BC2-4A35-B30A-618D620B6A13}" type="slidenum">
              <a:rPr lang="en-IN" smtClean="0"/>
              <a:t>‹#›</a:t>
            </a:fld>
            <a:endParaRPr lang="en-IN"/>
          </a:p>
        </p:txBody>
      </p:sp>
    </p:spTree>
    <p:extLst>
      <p:ext uri="{BB962C8B-B14F-4D97-AF65-F5344CB8AC3E}">
        <p14:creationId xmlns:p14="http://schemas.microsoft.com/office/powerpoint/2010/main" val="1258519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C:\Users\EC\Desktop\cropped-cddfv-1024x112.webp"/>
          <p:cNvSpPr>
            <a:spLocks noChangeAspect="1" noChangeArrowheads="1"/>
          </p:cNvSpPr>
          <p:nvPr/>
        </p:nvSpPr>
        <p:spPr bwMode="auto">
          <a:xfrm>
            <a:off x="1612900" y="1673224"/>
            <a:ext cx="44831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5" name="TextBox 4"/>
          <p:cNvSpPr txBox="1"/>
          <p:nvPr/>
        </p:nvSpPr>
        <p:spPr>
          <a:xfrm>
            <a:off x="5164167" y="5491018"/>
            <a:ext cx="2327835" cy="646331"/>
          </a:xfrm>
          <a:prstGeom prst="rect">
            <a:avLst/>
          </a:prstGeom>
          <a:noFill/>
        </p:spPr>
        <p:txBody>
          <a:bodyPr wrap="square" rtlCol="0">
            <a:spAutoFit/>
          </a:bodyPr>
          <a:lstStyle/>
          <a:p>
            <a:pPr algn="just"/>
            <a:r>
              <a:rPr lang="en-US">
                <a:latin typeface="Times New Roman" panose="02020603050405020304" pitchFamily="18" charset="0"/>
                <a:cs typeface="Times New Roman" panose="02020603050405020304" pitchFamily="18" charset="0"/>
              </a:rPr>
              <a:t>Under the Guidance of</a:t>
            </a:r>
          </a:p>
          <a:p>
            <a:pPr algn="just"/>
            <a:r>
              <a:rPr lang="en-US">
                <a:latin typeface="Times New Roman" panose="02020603050405020304" pitchFamily="18" charset="0"/>
                <a:cs typeface="Times New Roman" panose="02020603050405020304" pitchFamily="18" charset="0"/>
              </a:rPr>
              <a:t>Dr . Prabhakar Manage</a:t>
            </a:r>
          </a:p>
        </p:txBody>
      </p:sp>
      <p:sp>
        <p:nvSpPr>
          <p:cNvPr id="7" name="TextBox 6"/>
          <p:cNvSpPr txBox="1"/>
          <p:nvPr/>
        </p:nvSpPr>
        <p:spPr>
          <a:xfrm>
            <a:off x="2496170" y="1556067"/>
            <a:ext cx="8179675"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Department of Electronics and Communication Engineering </a:t>
            </a:r>
          </a:p>
        </p:txBody>
      </p:sp>
      <p:sp>
        <p:nvSpPr>
          <p:cNvPr id="8" name="TextBox 7"/>
          <p:cNvSpPr txBox="1"/>
          <p:nvPr/>
        </p:nvSpPr>
        <p:spPr>
          <a:xfrm>
            <a:off x="2496171" y="2275645"/>
            <a:ext cx="7683120" cy="1815882"/>
          </a:xfrm>
          <a:prstGeom prst="rect">
            <a:avLst/>
          </a:prstGeom>
          <a:noFill/>
        </p:spPr>
        <p:txBody>
          <a:bodyPr wrap="square" rtlCol="0">
            <a:spAutoFit/>
          </a:bodyPr>
          <a:lstStyle/>
          <a:p>
            <a:pPr algn="ctr"/>
            <a:r>
              <a:rPr lang="en-US" sz="2800" b="1">
                <a:latin typeface="Times New Roman" panose="02020603050405020304" pitchFamily="18" charset="0"/>
                <a:cs typeface="Times New Roman" panose="02020603050405020304" pitchFamily="18" charset="0"/>
              </a:rPr>
              <a:t>NOISE CANCELLATION IN ECG SIGNAL </a:t>
            </a:r>
            <a:endParaRPr lang="en-IN" sz="2800" b="1">
              <a:latin typeface="Times New Roman" panose="02020603050405020304" pitchFamily="18" charset="0"/>
              <a:cs typeface="Times New Roman" panose="02020603050405020304" pitchFamily="18" charset="0"/>
            </a:endParaRPr>
          </a:p>
          <a:p>
            <a:pPr algn="ctr"/>
            <a:endParaRPr lang="en-IN" sz="2800" b="1">
              <a:latin typeface="Times New Roman" panose="02020603050405020304" pitchFamily="18" charset="0"/>
              <a:cs typeface="Times New Roman" panose="02020603050405020304" pitchFamily="18" charset="0"/>
            </a:endParaRPr>
          </a:p>
          <a:p>
            <a:pPr algn="ctr"/>
            <a:endParaRPr lang="en-US" sz="2800" b="1">
              <a:latin typeface="Times New Roman" panose="02020603050405020304" pitchFamily="18" charset="0"/>
              <a:cs typeface="Times New Roman" panose="02020603050405020304" pitchFamily="18" charset="0"/>
            </a:endParaRPr>
          </a:p>
          <a:p>
            <a:pPr algn="ctr"/>
            <a:endParaRPr lang="en-IN" sz="2800" b="1">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2328653" y="3430955"/>
          <a:ext cx="7885154" cy="2132145"/>
        </p:xfrm>
        <a:graphic>
          <a:graphicData uri="http://schemas.openxmlformats.org/drawingml/2006/table">
            <a:tbl>
              <a:tblPr firstRow="1" bandRow="1">
                <a:tableStyleId>{073A0DAA-6AF3-43AB-8588-CEC1D06C72B9}</a:tableStyleId>
              </a:tblPr>
              <a:tblGrid>
                <a:gridCol w="1073785">
                  <a:extLst>
                    <a:ext uri="{9D8B030D-6E8A-4147-A177-3AD203B41FA5}">
                      <a16:colId xmlns:a16="http://schemas.microsoft.com/office/drawing/2014/main" val="20000"/>
                    </a:ext>
                  </a:extLst>
                </a:gridCol>
                <a:gridCol w="2991655">
                  <a:extLst>
                    <a:ext uri="{9D8B030D-6E8A-4147-A177-3AD203B41FA5}">
                      <a16:colId xmlns:a16="http://schemas.microsoft.com/office/drawing/2014/main" val="20001"/>
                    </a:ext>
                  </a:extLst>
                </a:gridCol>
                <a:gridCol w="2320880">
                  <a:extLst>
                    <a:ext uri="{9D8B030D-6E8A-4147-A177-3AD203B41FA5}">
                      <a16:colId xmlns:a16="http://schemas.microsoft.com/office/drawing/2014/main" val="20002"/>
                    </a:ext>
                  </a:extLst>
                </a:gridCol>
                <a:gridCol w="1498834">
                  <a:extLst>
                    <a:ext uri="{9D8B030D-6E8A-4147-A177-3AD203B41FA5}">
                      <a16:colId xmlns:a16="http://schemas.microsoft.com/office/drawing/2014/main" val="20003"/>
                    </a:ext>
                  </a:extLst>
                </a:gridCol>
              </a:tblGrid>
              <a:tr h="426429">
                <a:tc>
                  <a:txBody>
                    <a:bodyPr/>
                    <a:lstStyle/>
                    <a:p>
                      <a:r>
                        <a:rPr lang="en-IN" sz="2000" b="1"/>
                        <a:t>SL NO.</a:t>
                      </a:r>
                    </a:p>
                  </a:txBody>
                  <a:tcPr/>
                </a:tc>
                <a:tc>
                  <a:txBody>
                    <a:bodyPr/>
                    <a:lstStyle/>
                    <a:p>
                      <a:r>
                        <a:rPr lang="en-IN" sz="2000" b="1"/>
                        <a:t>NAME</a:t>
                      </a:r>
                    </a:p>
                  </a:txBody>
                  <a:tcPr/>
                </a:tc>
                <a:tc>
                  <a:txBody>
                    <a:bodyPr/>
                    <a:lstStyle/>
                    <a:p>
                      <a:r>
                        <a:rPr lang="en-IN" sz="2000" b="1"/>
                        <a:t>USN</a:t>
                      </a:r>
                    </a:p>
                  </a:txBody>
                  <a:tcPr/>
                </a:tc>
                <a:tc>
                  <a:txBody>
                    <a:bodyPr/>
                    <a:lstStyle/>
                    <a:p>
                      <a:r>
                        <a:rPr lang="en-IN" sz="2000" b="1"/>
                        <a:t>ROLL NO.</a:t>
                      </a:r>
                    </a:p>
                  </a:txBody>
                  <a:tcPr/>
                </a:tc>
                <a:extLst>
                  <a:ext uri="{0D108BD9-81ED-4DB2-BD59-A6C34878D82A}">
                    <a16:rowId xmlns:a16="http://schemas.microsoft.com/office/drawing/2014/main" val="10000"/>
                  </a:ext>
                </a:extLst>
              </a:tr>
              <a:tr h="426429">
                <a:tc>
                  <a:txBody>
                    <a:bodyPr/>
                    <a:lstStyle/>
                    <a:p>
                      <a:r>
                        <a:rPr lang="en-IN" sz="2000" b="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en-IN" sz="2000" b="0"/>
                        <a:t>Aksheta B Patel</a:t>
                      </a:r>
                    </a:p>
                  </a:txBody>
                  <a:tcPr/>
                </a:tc>
                <a:tc>
                  <a:txBody>
                    <a:bodyPr/>
                    <a:lstStyle/>
                    <a:p>
                      <a:r>
                        <a:rPr lang="en-IN" sz="2000" b="0"/>
                        <a:t>02FE2</a:t>
                      </a:r>
                      <a:r>
                        <a:rPr lang="en-US" altLang="en-IN" sz="2000" b="0"/>
                        <a:t>2</a:t>
                      </a:r>
                      <a:r>
                        <a:rPr lang="en-IN" sz="2000" b="0"/>
                        <a:t>BEC0</a:t>
                      </a:r>
                      <a:r>
                        <a:rPr lang="en-US" sz="2000" b="0"/>
                        <a:t>05</a:t>
                      </a:r>
                      <a:endParaRPr lang="en-US" altLang="en-IN" sz="2000" b="0"/>
                    </a:p>
                  </a:txBody>
                  <a:tcPr/>
                </a:tc>
                <a:tc>
                  <a:txBody>
                    <a:bodyPr/>
                    <a:lstStyle/>
                    <a:p>
                      <a:r>
                        <a:rPr lang="en-US" altLang="en-IN" sz="2000" b="0"/>
                        <a:t>08</a:t>
                      </a:r>
                    </a:p>
                  </a:txBody>
                  <a:tcPr/>
                </a:tc>
                <a:extLst>
                  <a:ext uri="{0D108BD9-81ED-4DB2-BD59-A6C34878D82A}">
                    <a16:rowId xmlns:a16="http://schemas.microsoft.com/office/drawing/2014/main" val="10001"/>
                  </a:ext>
                </a:extLst>
              </a:tr>
              <a:tr h="426429">
                <a:tc>
                  <a:txBody>
                    <a:bodyPr/>
                    <a:lstStyle/>
                    <a:p>
                      <a:r>
                        <a:rPr lang="en-IN" sz="2000" b="0"/>
                        <a:t>2</a:t>
                      </a:r>
                    </a:p>
                  </a:txBody>
                  <a:tcPr/>
                </a:tc>
                <a:tc>
                  <a:txBody>
                    <a:bodyPr/>
                    <a:lstStyle/>
                    <a:p>
                      <a:pPr marL="0" marR="0" indent="0" algn="l" rtl="0" eaLnBrk="1" fontAlgn="auto" latinLnBrk="0" hangingPunct="1">
                        <a:lnSpc>
                          <a:spcPct val="100000"/>
                        </a:lnSpc>
                        <a:spcBef>
                          <a:spcPts val="0"/>
                        </a:spcBef>
                        <a:spcAft>
                          <a:spcPts val="0"/>
                        </a:spcAft>
                        <a:buClrTx/>
                        <a:buSzTx/>
                        <a:buFontTx/>
                        <a:buNone/>
                      </a:pPr>
                      <a:r>
                        <a:rPr lang="en-US" altLang="en-IN" sz="2000" b="0"/>
                        <a:t>Bhagyashree  Jainapur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2000" b="0"/>
                        <a:t>02FE2</a:t>
                      </a:r>
                      <a:r>
                        <a:rPr lang="en-US" altLang="en-IN" sz="2000" b="0"/>
                        <a:t>2</a:t>
                      </a:r>
                      <a:r>
                        <a:rPr lang="en-IN" sz="2000" b="0"/>
                        <a:t>BEC016</a:t>
                      </a:r>
                      <a:endParaRPr lang="en-US" altLang="en-IN" sz="2000" b="0"/>
                    </a:p>
                  </a:txBody>
                  <a:tcPr/>
                </a:tc>
                <a:tc>
                  <a:txBody>
                    <a:bodyPr/>
                    <a:lstStyle/>
                    <a:p>
                      <a:r>
                        <a:rPr lang="en-US" altLang="en-IN" sz="2000" b="0"/>
                        <a:t>18</a:t>
                      </a:r>
                    </a:p>
                  </a:txBody>
                  <a:tcPr/>
                </a:tc>
                <a:extLst>
                  <a:ext uri="{0D108BD9-81ED-4DB2-BD59-A6C34878D82A}">
                    <a16:rowId xmlns:a16="http://schemas.microsoft.com/office/drawing/2014/main" val="10002"/>
                  </a:ext>
                </a:extLst>
              </a:tr>
              <a:tr h="426429">
                <a:tc>
                  <a:txBody>
                    <a:bodyPr/>
                    <a:lstStyle/>
                    <a:p>
                      <a:r>
                        <a:rPr lang="en-IN" sz="2000" b="0"/>
                        <a:t>3</a:t>
                      </a:r>
                    </a:p>
                  </a:txBody>
                  <a:tcPr/>
                </a:tc>
                <a:tc>
                  <a:txBody>
                    <a:bodyPr/>
                    <a:lstStyle/>
                    <a:p>
                      <a:r>
                        <a:rPr lang="en-US" altLang="en-IN" sz="2000" b="0"/>
                        <a:t>Chandrashekhar Bhavi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2000" b="0" dirty="0"/>
                        <a:t>02FE</a:t>
                      </a:r>
                      <a:r>
                        <a:rPr lang="en-US" altLang="en-IN" sz="2000" b="0" dirty="0"/>
                        <a:t>22</a:t>
                      </a:r>
                      <a:r>
                        <a:rPr lang="en-IN" sz="2000" b="0" dirty="0"/>
                        <a:t>BEC0</a:t>
                      </a:r>
                      <a:r>
                        <a:rPr lang="en-US" sz="2000" b="0" dirty="0"/>
                        <a:t>20</a:t>
                      </a:r>
                      <a:endParaRPr lang="en-US" altLang="en-IN" sz="2000" b="0" dirty="0"/>
                    </a:p>
                  </a:txBody>
                  <a:tcPr/>
                </a:tc>
                <a:tc>
                  <a:txBody>
                    <a:bodyPr/>
                    <a:lstStyle/>
                    <a:p>
                      <a:r>
                        <a:rPr lang="en-US" altLang="en-IN" sz="2000" b="0"/>
                        <a:t>21</a:t>
                      </a:r>
                    </a:p>
                  </a:txBody>
                  <a:tcPr/>
                </a:tc>
                <a:extLst>
                  <a:ext uri="{0D108BD9-81ED-4DB2-BD59-A6C34878D82A}">
                    <a16:rowId xmlns:a16="http://schemas.microsoft.com/office/drawing/2014/main" val="10003"/>
                  </a:ext>
                </a:extLst>
              </a:tr>
              <a:tr h="426429">
                <a:tc>
                  <a:txBody>
                    <a:bodyPr/>
                    <a:lstStyle/>
                    <a:p>
                      <a:r>
                        <a:rPr lang="en-IN" sz="2000" b="0"/>
                        <a:t>4</a:t>
                      </a:r>
                    </a:p>
                  </a:txBody>
                  <a:tcPr/>
                </a:tc>
                <a:tc>
                  <a:txBody>
                    <a:bodyPr/>
                    <a:lstStyle/>
                    <a:p>
                      <a:r>
                        <a:rPr lang="en-US" altLang="en-IN" sz="2000" b="0" dirty="0"/>
                        <a:t>Pruthviraj Banoshi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2000" b="0"/>
                        <a:t>02FE2</a:t>
                      </a:r>
                      <a:r>
                        <a:rPr lang="en-US" altLang="en-IN" sz="2000" b="0"/>
                        <a:t>3</a:t>
                      </a:r>
                      <a:r>
                        <a:rPr lang="en-IN" sz="2000" b="0"/>
                        <a:t>BEC</a:t>
                      </a:r>
                      <a:r>
                        <a:rPr lang="en-US" sz="2000" b="0"/>
                        <a:t>058</a:t>
                      </a:r>
                      <a:endParaRPr lang="en-US" altLang="en-IN" sz="2000" b="0"/>
                    </a:p>
                  </a:txBody>
                  <a:tcPr/>
                </a:tc>
                <a:tc>
                  <a:txBody>
                    <a:bodyPr/>
                    <a:lstStyle/>
                    <a:p>
                      <a:r>
                        <a:rPr lang="en-US" altLang="en-IN" sz="2000" b="0" dirty="0"/>
                        <a:t>56</a:t>
                      </a:r>
                    </a:p>
                  </a:txBody>
                  <a:tcPr/>
                </a:tc>
                <a:extLst>
                  <a:ext uri="{0D108BD9-81ED-4DB2-BD59-A6C34878D82A}">
                    <a16:rowId xmlns:a16="http://schemas.microsoft.com/office/drawing/2014/main" val="10004"/>
                  </a:ext>
                </a:extLst>
              </a:tr>
            </a:tbl>
          </a:graphicData>
        </a:graphic>
      </p:graphicFrame>
      <p:pic>
        <p:nvPicPr>
          <p:cNvPr id="10" name="Picture 9"/>
          <p:cNvPicPr>
            <a:picLocks noChangeAspect="1"/>
          </p:cNvPicPr>
          <p:nvPr/>
        </p:nvPicPr>
        <p:blipFill>
          <a:blip r:embed="rId2"/>
          <a:stretch>
            <a:fillRect/>
          </a:stretch>
        </p:blipFill>
        <p:spPr>
          <a:xfrm>
            <a:off x="1394430" y="227290"/>
            <a:ext cx="9753600" cy="1066800"/>
          </a:xfrm>
          <a:prstGeom prst="rect">
            <a:avLst/>
          </a:prstGeom>
        </p:spPr>
      </p:pic>
      <p:sp>
        <p:nvSpPr>
          <p:cNvPr id="2" name="TextBox 1">
            <a:extLst>
              <a:ext uri="{FF2B5EF4-FFF2-40B4-BE49-F238E27FC236}">
                <a16:creationId xmlns:a16="http://schemas.microsoft.com/office/drawing/2014/main" id="{91CE9424-C1E3-1EF5-6B05-4446DE42E324}"/>
              </a:ext>
            </a:extLst>
          </p:cNvPr>
          <p:cNvSpPr txBox="1"/>
          <p:nvPr/>
        </p:nvSpPr>
        <p:spPr>
          <a:xfrm>
            <a:off x="4957441" y="277982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cs typeface="Calibri"/>
              </a:rPr>
              <a:t> </a:t>
            </a:r>
            <a:r>
              <a:rPr lang="en-US" sz="2000" b="1">
                <a:cs typeface="Calibri"/>
              </a:rPr>
              <a:t>Team- A 14</a:t>
            </a:r>
          </a:p>
        </p:txBody>
      </p:sp>
      <p:sp>
        <p:nvSpPr>
          <p:cNvPr id="3" name="Slide Number Placeholder 2">
            <a:extLst>
              <a:ext uri="{FF2B5EF4-FFF2-40B4-BE49-F238E27FC236}">
                <a16:creationId xmlns:a16="http://schemas.microsoft.com/office/drawing/2014/main" id="{6A17BE9D-26BE-131C-C864-B2B21DA35836}"/>
              </a:ext>
            </a:extLst>
          </p:cNvPr>
          <p:cNvSpPr>
            <a:spLocks noGrp="1"/>
          </p:cNvSpPr>
          <p:nvPr>
            <p:ph type="sldNum" sz="quarter" idx="12"/>
          </p:nvPr>
        </p:nvSpPr>
        <p:spPr/>
        <p:txBody>
          <a:bodyPr/>
          <a:lstStyle/>
          <a:p>
            <a:fld id="{CC057153-B650-4DEB-B370-79DDCFDCE934}" type="slidenum">
              <a:rPr lang="en-US" dirty="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02C199-B657-2FF7-E4BC-44F6E3467464}"/>
              </a:ext>
            </a:extLst>
          </p:cNvPr>
          <p:cNvSpPr>
            <a:spLocks noGrp="1"/>
          </p:cNvSpPr>
          <p:nvPr>
            <p:ph idx="1"/>
          </p:nvPr>
        </p:nvSpPr>
        <p:spPr/>
        <p:txBody>
          <a:bodyPr>
            <a:normAutofit fontScale="92500" lnSpcReduction="20000"/>
          </a:bodyPr>
          <a:lstStyle/>
          <a:p>
            <a:pPr marL="0" indent="0">
              <a:buNone/>
            </a:pPr>
            <a:r>
              <a:rPr lang="en-US" sz="2400" b="1" dirty="0">
                <a:solidFill>
                  <a:srgbClr val="C00000"/>
                </a:solidFill>
                <a:effectLst/>
                <a:latin typeface="TimesNewRomanPS-BoldMT"/>
              </a:rPr>
              <a:t>Contents: </a:t>
            </a:r>
            <a:endParaRPr lang="en-US" sz="2400" dirty="0"/>
          </a:p>
          <a:p>
            <a:r>
              <a:rPr lang="en-US" sz="1800" dirty="0">
                <a:solidFill>
                  <a:srgbClr val="000000"/>
                </a:solidFill>
                <a:effectLst/>
                <a:latin typeface="Times New Roman" panose="02020603050405020304" pitchFamily="18" charset="0"/>
              </a:rPr>
              <a:t>Introduction of the need statement. </a:t>
            </a:r>
            <a:endParaRPr lang="en-US" sz="1800" dirty="0"/>
          </a:p>
          <a:p>
            <a:r>
              <a:rPr lang="en-US" sz="1800" dirty="0">
                <a:solidFill>
                  <a:srgbClr val="000000"/>
                </a:solidFill>
                <a:effectLst/>
                <a:latin typeface="Times New Roman" panose="02020603050405020304" pitchFamily="18" charset="0"/>
              </a:rPr>
              <a:t>Identifying multiple solutions with support of technical literature. </a:t>
            </a:r>
            <a:endParaRPr lang="en-US" sz="1800" dirty="0"/>
          </a:p>
          <a:p>
            <a:r>
              <a:rPr lang="en-US" sz="1800" dirty="0">
                <a:solidFill>
                  <a:srgbClr val="000000"/>
                </a:solidFill>
                <a:effectLst/>
                <a:latin typeface="Times New Roman" panose="02020603050405020304" pitchFamily="18" charset="0"/>
              </a:rPr>
              <a:t>Need Analysis and identifying the problem. </a:t>
            </a:r>
            <a:endParaRPr lang="en-US" sz="1800" dirty="0"/>
          </a:p>
          <a:p>
            <a:r>
              <a:rPr lang="en-US" sz="1800" dirty="0">
                <a:solidFill>
                  <a:srgbClr val="000000"/>
                </a:solidFill>
                <a:effectLst/>
                <a:latin typeface="Times New Roman" panose="02020603050405020304" pitchFamily="18" charset="0"/>
              </a:rPr>
              <a:t>Identifying multiple solutions. </a:t>
            </a:r>
            <a:endParaRPr lang="en-US" sz="1800" dirty="0"/>
          </a:p>
          <a:p>
            <a:r>
              <a:rPr lang="en-US" sz="1800" dirty="0">
                <a:solidFill>
                  <a:srgbClr val="000000"/>
                </a:solidFill>
                <a:effectLst/>
                <a:latin typeface="Times New Roman" panose="02020603050405020304" pitchFamily="18" charset="0"/>
              </a:rPr>
              <a:t>Worklet.</a:t>
            </a:r>
          </a:p>
          <a:p>
            <a:pPr algn="just"/>
            <a:r>
              <a:rPr lang="en-US" sz="1800" dirty="0">
                <a:latin typeface="Times New Roman"/>
                <a:cs typeface="Times New Roman"/>
              </a:rPr>
              <a:t>Project Planning (Gantt chart) and WBS (Work Breakdown Structure).</a:t>
            </a:r>
          </a:p>
          <a:p>
            <a:r>
              <a:rPr lang="en-US" sz="1800" dirty="0">
                <a:latin typeface="Times New Roman" panose="02020603050405020304" pitchFamily="18" charset="0"/>
                <a:ea typeface="Calibri"/>
                <a:cs typeface="Times New Roman" panose="02020603050405020304" pitchFamily="18" charset="0"/>
              </a:rPr>
              <a:t>Functional Block Diagram.</a:t>
            </a:r>
          </a:p>
          <a:p>
            <a:r>
              <a:rPr lang="en-US" sz="1800" dirty="0">
                <a:latin typeface="Times New Roman" panose="02020603050405020304" pitchFamily="18" charset="0"/>
                <a:ea typeface="Calibri"/>
                <a:cs typeface="Times New Roman" panose="02020603050405020304" pitchFamily="18" charset="0"/>
              </a:rPr>
              <a:t>Detailed block diagram.</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ea typeface="Calibri"/>
                <a:cs typeface="Times New Roman" panose="02020603050405020304" pitchFamily="18" charset="0"/>
              </a:rPr>
              <a:t>Functional Blocks Integration.</a:t>
            </a:r>
          </a:p>
          <a:p>
            <a:r>
              <a:rPr lang="en-US" sz="1800" dirty="0">
                <a:latin typeface="Times New Roman" panose="02020603050405020304" pitchFamily="18" charset="0"/>
                <a:ea typeface="Calibri"/>
                <a:cs typeface="Times New Roman" panose="02020603050405020304" pitchFamily="18" charset="0"/>
              </a:rPr>
              <a:t>Debugging.</a:t>
            </a:r>
          </a:p>
          <a:p>
            <a:r>
              <a:rPr lang="en-US" sz="1800" dirty="0">
                <a:latin typeface="Times New Roman" panose="02020603050405020304" pitchFamily="18" charset="0"/>
                <a:ea typeface="Calibri"/>
                <a:cs typeface="Times New Roman" panose="02020603050405020304" pitchFamily="18" charset="0"/>
              </a:rPr>
              <a:t>Plan for Optimization.</a:t>
            </a:r>
          </a:p>
          <a:p>
            <a:r>
              <a:rPr lang="en-US" sz="1800" dirty="0">
                <a:latin typeface="Times New Roman" panose="02020603050405020304" pitchFamily="18" charset="0"/>
                <a:ea typeface="Calibri"/>
                <a:cs typeface="Times New Roman" panose="02020603050405020304" pitchFamily="18" charset="0"/>
              </a:rPr>
              <a:t>Need for Optimization.</a:t>
            </a:r>
          </a:p>
          <a:p>
            <a:pPr marL="0" indent="0" algn="just">
              <a:buNone/>
            </a:pPr>
            <a:endParaRPr lang="en-US" sz="1800" dirty="0">
              <a:latin typeface="Times New Roman"/>
              <a:cs typeface="Times New Roman"/>
            </a:endParaRPr>
          </a:p>
          <a:p>
            <a:pPr marL="0" indent="0">
              <a:buNone/>
            </a:pPr>
            <a:endParaRPr lang="en-IN" dirty="0"/>
          </a:p>
        </p:txBody>
      </p:sp>
      <p:pic>
        <p:nvPicPr>
          <p:cNvPr id="5" name="Picture 4">
            <a:extLst>
              <a:ext uri="{FF2B5EF4-FFF2-40B4-BE49-F238E27FC236}">
                <a16:creationId xmlns:a16="http://schemas.microsoft.com/office/drawing/2014/main" id="{B978771D-49EE-8578-0BEC-E5CF32D58652}"/>
              </a:ext>
            </a:extLst>
          </p:cNvPr>
          <p:cNvPicPr>
            <a:picLocks noChangeAspect="1"/>
          </p:cNvPicPr>
          <p:nvPr/>
        </p:nvPicPr>
        <p:blipFill>
          <a:blip r:embed="rId2"/>
          <a:stretch>
            <a:fillRect/>
          </a:stretch>
        </p:blipFill>
        <p:spPr>
          <a:xfrm>
            <a:off x="1219200" y="276451"/>
            <a:ext cx="9753600" cy="1066800"/>
          </a:xfrm>
          <a:prstGeom prst="rect">
            <a:avLst/>
          </a:prstGeom>
        </p:spPr>
      </p:pic>
    </p:spTree>
    <p:extLst>
      <p:ext uri="{BB962C8B-B14F-4D97-AF65-F5344CB8AC3E}">
        <p14:creationId xmlns:p14="http://schemas.microsoft.com/office/powerpoint/2010/main" val="723963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055E74-463E-8216-D116-D8223BB36320}"/>
              </a:ext>
            </a:extLst>
          </p:cNvPr>
          <p:cNvSpPr>
            <a:spLocks noGrp="1"/>
          </p:cNvSpPr>
          <p:nvPr>
            <p:ph idx="1"/>
          </p:nvPr>
        </p:nvSpPr>
        <p:spPr/>
        <p:txBody>
          <a:bodyPr/>
          <a:lstStyle/>
          <a:p>
            <a:pPr marL="0" indent="0">
              <a:buNone/>
            </a:pPr>
            <a:r>
              <a:rPr lang="en-US" sz="2400" b="1" dirty="0">
                <a:solidFill>
                  <a:srgbClr val="C00000"/>
                </a:solidFill>
                <a:effectLst/>
                <a:latin typeface="TimesNewRomanPS-BoldMT"/>
              </a:rPr>
              <a:t>Contents: </a:t>
            </a:r>
            <a:endParaRPr lang="en-US" sz="2400" dirty="0">
              <a:latin typeface="Times New Roman" panose="02020603050405020304" pitchFamily="18" charset="0"/>
              <a:ea typeface="Calibri"/>
              <a:cs typeface="Times New Roman" panose="02020603050405020304" pitchFamily="18" charset="0"/>
            </a:endParaRPr>
          </a:p>
          <a:p>
            <a:pPr algn="just"/>
            <a:r>
              <a:rPr lang="en-US" sz="1800" dirty="0">
                <a:latin typeface="Times New Roman"/>
                <a:cs typeface="Times New Roman"/>
              </a:rPr>
              <a:t>Specification and identification of input &amp; output.</a:t>
            </a:r>
          </a:p>
          <a:p>
            <a:pPr algn="just"/>
            <a:r>
              <a:rPr lang="en-US" sz="1800" dirty="0">
                <a:latin typeface="Times New Roman"/>
                <a:cs typeface="Times New Roman"/>
              </a:rPr>
              <a:t>Functional block diagram relating input &amp; output, Design specifications.</a:t>
            </a:r>
          </a:p>
          <a:p>
            <a:pPr algn="just"/>
            <a:r>
              <a:rPr lang="en-US" sz="1800" dirty="0">
                <a:latin typeface="Times New Roman"/>
                <a:cs typeface="Times New Roman"/>
              </a:rPr>
              <a:t>Implementation.</a:t>
            </a:r>
          </a:p>
          <a:p>
            <a:pPr algn="just"/>
            <a:r>
              <a:rPr lang="en-US" sz="1800" dirty="0">
                <a:latin typeface="Times New Roman"/>
                <a:cs typeface="Times New Roman"/>
              </a:rPr>
              <a:t>Present results as a team.</a:t>
            </a:r>
          </a:p>
          <a:p>
            <a:endParaRPr lang="en-US" sz="1800" dirty="0">
              <a:latin typeface="Times New Roman" panose="02020603050405020304" pitchFamily="18" charset="0"/>
              <a:ea typeface="Calibri"/>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B74BC86B-D3D8-1E7D-A1D4-3C8CD0711376}"/>
              </a:ext>
            </a:extLst>
          </p:cNvPr>
          <p:cNvPicPr>
            <a:picLocks noChangeAspect="1"/>
          </p:cNvPicPr>
          <p:nvPr/>
        </p:nvPicPr>
        <p:blipFill>
          <a:blip r:embed="rId2"/>
          <a:stretch>
            <a:fillRect/>
          </a:stretch>
        </p:blipFill>
        <p:spPr>
          <a:xfrm>
            <a:off x="1219200" y="365125"/>
            <a:ext cx="9753600" cy="1066800"/>
          </a:xfrm>
          <a:prstGeom prst="rect">
            <a:avLst/>
          </a:prstGeom>
        </p:spPr>
      </p:pic>
    </p:spTree>
    <p:extLst>
      <p:ext uri="{BB962C8B-B14F-4D97-AF65-F5344CB8AC3E}">
        <p14:creationId xmlns:p14="http://schemas.microsoft.com/office/powerpoint/2010/main" val="3693043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6BECAB-E70F-F849-167B-A3E5EA1887A7}"/>
              </a:ext>
            </a:extLst>
          </p:cNvPr>
          <p:cNvSpPr>
            <a:spLocks noGrp="1"/>
          </p:cNvSpPr>
          <p:nvPr>
            <p:ph idx="1"/>
          </p:nvPr>
        </p:nvSpPr>
        <p:spPr>
          <a:xfrm>
            <a:off x="838200" y="1855121"/>
            <a:ext cx="10515600" cy="4351338"/>
          </a:xfrm>
        </p:spPr>
        <p:txBody>
          <a:bodyPr/>
          <a:lstStyle/>
          <a:p>
            <a:pPr marL="0" indent="0">
              <a:buNone/>
            </a:pPr>
            <a:r>
              <a:rPr lang="en-US" sz="2400" b="1" dirty="0">
                <a:solidFill>
                  <a:srgbClr val="FF0000"/>
                </a:solidFill>
                <a:effectLst/>
                <a:latin typeface="TimesNewRomanPS-BoldMT"/>
              </a:rPr>
              <a:t>Introduction </a:t>
            </a:r>
            <a:endParaRPr lang="en-US" sz="2400" dirty="0">
              <a:solidFill>
                <a:srgbClr val="FF0000"/>
              </a:solidFill>
            </a:endParaRPr>
          </a:p>
          <a:p>
            <a:pPr marL="0" indent="0">
              <a:buNone/>
            </a:pPr>
            <a:r>
              <a:rPr lang="en-US" sz="1800" dirty="0">
                <a:solidFill>
                  <a:srgbClr val="000000"/>
                </a:solidFill>
                <a:effectLst/>
                <a:latin typeface="Arial" panose="020B0604020202020204" pitchFamily="34" charset="0"/>
              </a:rPr>
              <a:t>• </a:t>
            </a:r>
            <a:r>
              <a:rPr lang="en-US" sz="1800" dirty="0">
                <a:solidFill>
                  <a:srgbClr val="000000"/>
                </a:solidFill>
                <a:effectLst/>
                <a:latin typeface="Times New Roman" panose="02020603050405020304" pitchFamily="18" charset="0"/>
              </a:rPr>
              <a:t>Noise cancellation in ECG signals removes unwanted power line interference or noise, ensuring </a:t>
            </a:r>
            <a:endParaRPr lang="en-US" sz="1800" dirty="0"/>
          </a:p>
          <a:p>
            <a:pPr marL="0" indent="0">
              <a:buNone/>
            </a:pPr>
            <a:r>
              <a:rPr lang="en-US" sz="1800" dirty="0">
                <a:solidFill>
                  <a:srgbClr val="000000"/>
                </a:solidFill>
                <a:effectLst/>
                <a:latin typeface="Times New Roman" panose="02020603050405020304" pitchFamily="18" charset="0"/>
              </a:rPr>
              <a:t>   accurate heart rate monitoring. </a:t>
            </a:r>
            <a:endParaRPr lang="en-US" sz="1800" dirty="0"/>
          </a:p>
          <a:p>
            <a:pPr marL="0" indent="0">
              <a:buNone/>
            </a:pPr>
            <a:r>
              <a:rPr lang="en-US" sz="1800" dirty="0">
                <a:solidFill>
                  <a:srgbClr val="000000"/>
                </a:solidFill>
                <a:effectLst/>
                <a:latin typeface="Arial" panose="020B0604020202020204" pitchFamily="34" charset="0"/>
              </a:rPr>
              <a:t>• </a:t>
            </a:r>
            <a:r>
              <a:rPr lang="en-US" sz="1800" dirty="0">
                <a:solidFill>
                  <a:srgbClr val="000000"/>
                </a:solidFill>
                <a:effectLst/>
                <a:latin typeface="Times New Roman" panose="02020603050405020304" pitchFamily="18" charset="0"/>
              </a:rPr>
              <a:t>Noise can distort ECG data, leading to false readings or misinterpretations. </a:t>
            </a:r>
            <a:endParaRPr lang="en-US" sz="1800" dirty="0"/>
          </a:p>
          <a:p>
            <a:pPr marL="0" indent="0">
              <a:buNone/>
            </a:pPr>
            <a:r>
              <a:rPr lang="en-US" sz="1800" dirty="0">
                <a:solidFill>
                  <a:srgbClr val="000000"/>
                </a:solidFill>
                <a:effectLst/>
                <a:latin typeface="Arial" panose="020B0604020202020204" pitchFamily="34" charset="0"/>
              </a:rPr>
              <a:t>• </a:t>
            </a:r>
            <a:r>
              <a:rPr lang="en-US" sz="1800" dirty="0">
                <a:solidFill>
                  <a:srgbClr val="000000"/>
                </a:solidFill>
                <a:effectLst/>
                <a:latin typeface="Times New Roman" panose="02020603050405020304" pitchFamily="18" charset="0"/>
              </a:rPr>
              <a:t>Sources of noise include movement artifacts, power line interference, and poor electrode contact. </a:t>
            </a:r>
            <a:endParaRPr lang="en-US" sz="1800" dirty="0"/>
          </a:p>
          <a:p>
            <a:pPr marL="0" indent="0">
              <a:buNone/>
            </a:pPr>
            <a:r>
              <a:rPr lang="en-US" sz="1800" dirty="0">
                <a:solidFill>
                  <a:srgbClr val="000000"/>
                </a:solidFill>
                <a:effectLst/>
                <a:latin typeface="Arial" panose="020B0604020202020204" pitchFamily="34" charset="0"/>
              </a:rPr>
              <a:t>• </a:t>
            </a:r>
            <a:r>
              <a:rPr lang="en-US" sz="1800" dirty="0">
                <a:solidFill>
                  <a:srgbClr val="000000"/>
                </a:solidFill>
                <a:effectLst/>
                <a:latin typeface="Times New Roman" panose="02020603050405020304" pitchFamily="18" charset="0"/>
              </a:rPr>
              <a:t>Important for clinical settings, remote monitoring, and wearable devices to detect cardiovascular </a:t>
            </a:r>
            <a:endParaRPr lang="en-US" sz="1800" dirty="0"/>
          </a:p>
          <a:p>
            <a:pPr marL="0" indent="0">
              <a:buNone/>
            </a:pPr>
            <a:r>
              <a:rPr lang="en-US" sz="1800" dirty="0">
                <a:solidFill>
                  <a:srgbClr val="000000"/>
                </a:solidFill>
                <a:effectLst/>
                <a:latin typeface="Times New Roman" panose="02020603050405020304" pitchFamily="18" charset="0"/>
              </a:rPr>
              <a:t>  issues. </a:t>
            </a:r>
            <a:endParaRPr lang="en-US" sz="1800" dirty="0"/>
          </a:p>
          <a:p>
            <a:pPr marL="0" indent="0">
              <a:buNone/>
            </a:pPr>
            <a:r>
              <a:rPr lang="en-US" sz="1800" dirty="0">
                <a:solidFill>
                  <a:srgbClr val="000000"/>
                </a:solidFill>
                <a:effectLst/>
                <a:latin typeface="Arial" panose="020B0604020202020204" pitchFamily="34" charset="0"/>
              </a:rPr>
              <a:t>• </a:t>
            </a:r>
            <a:r>
              <a:rPr lang="en-US" sz="1800" dirty="0">
                <a:solidFill>
                  <a:srgbClr val="000000"/>
                </a:solidFill>
                <a:effectLst/>
                <a:latin typeface="Times New Roman" panose="02020603050405020304" pitchFamily="18" charset="0"/>
              </a:rPr>
              <a:t>Techniques like filtering and adaptive signal processing are used to reduce noise while preserving </a:t>
            </a:r>
            <a:endParaRPr lang="en-US" sz="1800" dirty="0"/>
          </a:p>
          <a:p>
            <a:pPr marL="0" indent="0">
              <a:buNone/>
            </a:pPr>
            <a:r>
              <a:rPr lang="en-US" sz="1800" dirty="0">
                <a:solidFill>
                  <a:srgbClr val="000000"/>
                </a:solidFill>
                <a:effectLst/>
                <a:latin typeface="Times New Roman" panose="02020603050405020304" pitchFamily="18" charset="0"/>
              </a:rPr>
              <a:t>   heart signal integrity. </a:t>
            </a:r>
            <a:endParaRPr lang="en-US" sz="1800" dirty="0"/>
          </a:p>
          <a:p>
            <a:pPr marL="0" indent="0">
              <a:buNone/>
            </a:pPr>
            <a:r>
              <a:rPr lang="en-US" sz="1800" dirty="0">
                <a:solidFill>
                  <a:srgbClr val="000000"/>
                </a:solidFill>
                <a:effectLst/>
                <a:latin typeface="Arial" panose="020B0604020202020204" pitchFamily="34" charset="0"/>
              </a:rPr>
              <a:t>• </a:t>
            </a:r>
            <a:r>
              <a:rPr lang="en-US" sz="1800" dirty="0">
                <a:solidFill>
                  <a:srgbClr val="000000"/>
                </a:solidFill>
                <a:effectLst/>
                <a:latin typeface="Times New Roman" panose="02020603050405020304" pitchFamily="18" charset="0"/>
              </a:rPr>
              <a:t>Goal is to enhance ECG data quality for accurate diagnostics and early detection of heart </a:t>
            </a:r>
            <a:endParaRPr lang="en-US" sz="1800" dirty="0"/>
          </a:p>
          <a:p>
            <a:pPr marL="0" indent="0">
              <a:buNone/>
            </a:pPr>
            <a:r>
              <a:rPr lang="en-US" sz="1800" dirty="0">
                <a:solidFill>
                  <a:srgbClr val="000000"/>
                </a:solidFill>
                <a:effectLst/>
                <a:latin typeface="Times New Roman" panose="02020603050405020304" pitchFamily="18" charset="0"/>
              </a:rPr>
              <a:t>   conditions.</a:t>
            </a:r>
            <a:endParaRPr lang="en-IN" sz="1800" dirty="0"/>
          </a:p>
        </p:txBody>
      </p:sp>
      <p:pic>
        <p:nvPicPr>
          <p:cNvPr id="4" name="Picture 3">
            <a:extLst>
              <a:ext uri="{FF2B5EF4-FFF2-40B4-BE49-F238E27FC236}">
                <a16:creationId xmlns:a16="http://schemas.microsoft.com/office/drawing/2014/main" id="{D6EC1002-E267-4119-982B-3E578AF8B2F4}"/>
              </a:ext>
            </a:extLst>
          </p:cNvPr>
          <p:cNvPicPr>
            <a:picLocks noChangeAspect="1"/>
          </p:cNvPicPr>
          <p:nvPr/>
        </p:nvPicPr>
        <p:blipFill>
          <a:blip r:embed="rId2"/>
          <a:stretch>
            <a:fillRect/>
          </a:stretch>
        </p:blipFill>
        <p:spPr>
          <a:xfrm>
            <a:off x="1219200" y="374957"/>
            <a:ext cx="9753600" cy="1066800"/>
          </a:xfrm>
          <a:prstGeom prst="rect">
            <a:avLst/>
          </a:prstGeom>
        </p:spPr>
      </p:pic>
    </p:spTree>
    <p:extLst>
      <p:ext uri="{BB962C8B-B14F-4D97-AF65-F5344CB8AC3E}">
        <p14:creationId xmlns:p14="http://schemas.microsoft.com/office/powerpoint/2010/main" val="2350922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388112B-C3DA-53D6-5371-7C0CB73498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825625"/>
            <a:ext cx="10515600" cy="4673046"/>
          </a:xfrm>
        </p:spPr>
      </p:pic>
      <p:pic>
        <p:nvPicPr>
          <p:cNvPr id="6" name="Picture 5">
            <a:extLst>
              <a:ext uri="{FF2B5EF4-FFF2-40B4-BE49-F238E27FC236}">
                <a16:creationId xmlns:a16="http://schemas.microsoft.com/office/drawing/2014/main" id="{3ADF014D-482C-0198-9BFC-C86ABC2BF8BF}"/>
              </a:ext>
            </a:extLst>
          </p:cNvPr>
          <p:cNvPicPr>
            <a:picLocks noChangeAspect="1"/>
          </p:cNvPicPr>
          <p:nvPr/>
        </p:nvPicPr>
        <p:blipFill>
          <a:blip r:embed="rId3"/>
          <a:stretch>
            <a:fillRect/>
          </a:stretch>
        </p:blipFill>
        <p:spPr>
          <a:xfrm>
            <a:off x="1219200" y="286283"/>
            <a:ext cx="9753600" cy="1066800"/>
          </a:xfrm>
          <a:prstGeom prst="rect">
            <a:avLst/>
          </a:prstGeom>
        </p:spPr>
      </p:pic>
    </p:spTree>
    <p:extLst>
      <p:ext uri="{BB962C8B-B14F-4D97-AF65-F5344CB8AC3E}">
        <p14:creationId xmlns:p14="http://schemas.microsoft.com/office/powerpoint/2010/main" val="146015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30483F6-E30A-8F3C-7FB9-FA12AD5A0B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5910" y="1524000"/>
            <a:ext cx="10589342" cy="4837471"/>
          </a:xfrm>
        </p:spPr>
      </p:pic>
      <p:pic>
        <p:nvPicPr>
          <p:cNvPr id="4" name="Picture 3">
            <a:extLst>
              <a:ext uri="{FF2B5EF4-FFF2-40B4-BE49-F238E27FC236}">
                <a16:creationId xmlns:a16="http://schemas.microsoft.com/office/drawing/2014/main" id="{79B86F72-6E77-6710-CC6F-7156F8D1D7B8}"/>
              </a:ext>
            </a:extLst>
          </p:cNvPr>
          <p:cNvPicPr>
            <a:picLocks noChangeAspect="1"/>
          </p:cNvPicPr>
          <p:nvPr/>
        </p:nvPicPr>
        <p:blipFill>
          <a:blip r:embed="rId3"/>
          <a:stretch>
            <a:fillRect/>
          </a:stretch>
        </p:blipFill>
        <p:spPr>
          <a:xfrm>
            <a:off x="1219200" y="237122"/>
            <a:ext cx="9753600" cy="1066800"/>
          </a:xfrm>
          <a:prstGeom prst="rect">
            <a:avLst/>
          </a:prstGeom>
        </p:spPr>
      </p:pic>
    </p:spTree>
    <p:extLst>
      <p:ext uri="{BB962C8B-B14F-4D97-AF65-F5344CB8AC3E}">
        <p14:creationId xmlns:p14="http://schemas.microsoft.com/office/powerpoint/2010/main" val="1731373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A6EA72-6056-8260-AF81-440B3148CA1B}"/>
              </a:ext>
            </a:extLst>
          </p:cNvPr>
          <p:cNvSpPr>
            <a:spLocks noGrp="1"/>
          </p:cNvSpPr>
          <p:nvPr>
            <p:ph idx="1"/>
          </p:nvPr>
        </p:nvSpPr>
        <p:spPr/>
        <p:txBody>
          <a:bodyPr/>
          <a:lstStyle/>
          <a:p>
            <a:pPr marL="0" indent="0">
              <a:buNone/>
            </a:pPr>
            <a:r>
              <a:rPr lang="en-US" sz="2400" b="1" dirty="0">
                <a:solidFill>
                  <a:srgbClr val="C00000"/>
                </a:solidFill>
                <a:effectLst/>
                <a:latin typeface="TimesNewRomanPS-BoldMT"/>
              </a:rPr>
              <a:t>Identifying multiple solutions </a:t>
            </a:r>
            <a:endParaRPr lang="en-US" sz="2400" dirty="0"/>
          </a:p>
          <a:p>
            <a:pPr marL="0" indent="0">
              <a:buNone/>
            </a:pPr>
            <a:r>
              <a:rPr lang="en-US" sz="1800" b="1" dirty="0">
                <a:solidFill>
                  <a:srgbClr val="000000"/>
                </a:solidFill>
                <a:effectLst/>
                <a:latin typeface="TimesNewRomanPS-BoldMT"/>
              </a:rPr>
              <a:t>“ Adaptive Notch Filter for Power Line Interference Removal in ECG Signals" </a:t>
            </a:r>
            <a:endParaRPr lang="en-US" dirty="0"/>
          </a:p>
          <a:p>
            <a:r>
              <a:rPr lang="en-US" sz="1800" dirty="0">
                <a:solidFill>
                  <a:srgbClr val="000000"/>
                </a:solidFill>
                <a:effectLst/>
                <a:latin typeface="Times New Roman" panose="02020603050405020304" pitchFamily="18" charset="0"/>
              </a:rPr>
              <a:t>A notch filter is used to attenuate specific frequencies, such as 50/60 Hz, to eliminate power </a:t>
            </a:r>
            <a:endParaRPr lang="en-US" dirty="0"/>
          </a:p>
          <a:p>
            <a:r>
              <a:rPr lang="en-US" sz="1800" dirty="0">
                <a:solidFill>
                  <a:srgbClr val="000000"/>
                </a:solidFill>
                <a:effectLst/>
                <a:latin typeface="Times New Roman" panose="02020603050405020304" pitchFamily="18" charset="0"/>
              </a:rPr>
              <a:t>line interference. It allows all other frequencies to pass while sharply reducing the target </a:t>
            </a:r>
            <a:endParaRPr lang="en-US" dirty="0"/>
          </a:p>
          <a:p>
            <a:r>
              <a:rPr lang="en-US" sz="1800" dirty="0">
                <a:solidFill>
                  <a:srgbClr val="000000"/>
                </a:solidFill>
                <a:effectLst/>
                <a:latin typeface="Times New Roman" panose="02020603050405020304" pitchFamily="18" charset="0"/>
              </a:rPr>
              <a:t>frequency</a:t>
            </a:r>
            <a:endParaRPr lang="en-IN" dirty="0"/>
          </a:p>
        </p:txBody>
      </p:sp>
      <p:pic>
        <p:nvPicPr>
          <p:cNvPr id="6" name="Picture 5">
            <a:extLst>
              <a:ext uri="{FF2B5EF4-FFF2-40B4-BE49-F238E27FC236}">
                <a16:creationId xmlns:a16="http://schemas.microsoft.com/office/drawing/2014/main" id="{72EA5003-060B-16CE-2E58-8D238C9BDAE2}"/>
              </a:ext>
            </a:extLst>
          </p:cNvPr>
          <p:cNvPicPr>
            <a:picLocks noChangeAspect="1"/>
          </p:cNvPicPr>
          <p:nvPr/>
        </p:nvPicPr>
        <p:blipFill>
          <a:blip r:embed="rId2"/>
          <a:stretch>
            <a:fillRect/>
          </a:stretch>
        </p:blipFill>
        <p:spPr>
          <a:xfrm>
            <a:off x="1219200" y="335444"/>
            <a:ext cx="9753600" cy="1066800"/>
          </a:xfrm>
          <a:prstGeom prst="rect">
            <a:avLst/>
          </a:prstGeom>
        </p:spPr>
      </p:pic>
      <p:pic>
        <p:nvPicPr>
          <p:cNvPr id="8" name="Picture 7">
            <a:extLst>
              <a:ext uri="{FF2B5EF4-FFF2-40B4-BE49-F238E27FC236}">
                <a16:creationId xmlns:a16="http://schemas.microsoft.com/office/drawing/2014/main" id="{CF9DBB1E-C4B1-A31F-8488-05F4B6DBA49C}"/>
              </a:ext>
            </a:extLst>
          </p:cNvPr>
          <p:cNvPicPr>
            <a:picLocks noChangeAspect="1"/>
          </p:cNvPicPr>
          <p:nvPr/>
        </p:nvPicPr>
        <p:blipFill>
          <a:blip r:embed="rId3"/>
          <a:stretch>
            <a:fillRect/>
          </a:stretch>
        </p:blipFill>
        <p:spPr>
          <a:xfrm>
            <a:off x="7669161" y="3696929"/>
            <a:ext cx="4039377" cy="2825627"/>
          </a:xfrm>
          <a:prstGeom prst="rect">
            <a:avLst/>
          </a:prstGeom>
        </p:spPr>
      </p:pic>
    </p:spTree>
    <p:extLst>
      <p:ext uri="{BB962C8B-B14F-4D97-AF65-F5344CB8AC3E}">
        <p14:creationId xmlns:p14="http://schemas.microsoft.com/office/powerpoint/2010/main" val="38774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E6DB2D-003D-5F47-8607-F23A0B6A96A4}"/>
              </a:ext>
            </a:extLst>
          </p:cNvPr>
          <p:cNvSpPr>
            <a:spLocks noGrp="1"/>
          </p:cNvSpPr>
          <p:nvPr>
            <p:ph idx="1"/>
          </p:nvPr>
        </p:nvSpPr>
        <p:spPr/>
        <p:txBody>
          <a:bodyPr/>
          <a:lstStyle/>
          <a:p>
            <a:pPr marL="0" indent="0">
              <a:buNone/>
            </a:pPr>
            <a:r>
              <a:rPr lang="en-US" sz="2400" b="1" dirty="0">
                <a:solidFill>
                  <a:srgbClr val="C00000"/>
                </a:solidFill>
                <a:effectLst/>
                <a:latin typeface="TimesNewRomanPS-BoldMT"/>
              </a:rPr>
              <a:t>Identifying multiple solutions </a:t>
            </a:r>
            <a:endParaRPr lang="en-US" sz="2400" dirty="0"/>
          </a:p>
          <a:p>
            <a:pPr marL="0" indent="0">
              <a:buNone/>
            </a:pPr>
            <a:r>
              <a:rPr lang="en-US" sz="1800" b="1" dirty="0">
                <a:solidFill>
                  <a:srgbClr val="000000"/>
                </a:solidFill>
                <a:effectLst/>
                <a:latin typeface="TimesNewRomanPS-BoldMT"/>
              </a:rPr>
              <a:t>"High-Pass Filtering to Eliminate Low-Frequency Components</a:t>
            </a:r>
            <a:r>
              <a:rPr lang="en-US" sz="1800" dirty="0">
                <a:solidFill>
                  <a:srgbClr val="000000"/>
                </a:solidFill>
                <a:effectLst/>
                <a:latin typeface="Times New Roman" panose="02020603050405020304" pitchFamily="18" charset="0"/>
              </a:rPr>
              <a:t>" </a:t>
            </a:r>
            <a:endParaRPr lang="en-US" dirty="0"/>
          </a:p>
          <a:p>
            <a:r>
              <a:rPr lang="en-US" sz="1800" dirty="0">
                <a:solidFill>
                  <a:srgbClr val="000000"/>
                </a:solidFill>
                <a:effectLst/>
                <a:latin typeface="Times New Roman" panose="02020603050405020304" pitchFamily="18" charset="0"/>
              </a:rPr>
              <a:t>High-pass filtering removes low-frequency components from a signal, allowing only </a:t>
            </a:r>
            <a:endParaRPr lang="en-US" dirty="0"/>
          </a:p>
          <a:p>
            <a:r>
              <a:rPr lang="en-US" sz="1800" dirty="0">
                <a:solidFill>
                  <a:srgbClr val="000000"/>
                </a:solidFill>
                <a:effectLst/>
                <a:latin typeface="Times New Roman" panose="02020603050405020304" pitchFamily="18" charset="0"/>
              </a:rPr>
              <a:t>frequencies above a certain cutoff point to pass through. This is useful for eliminating </a:t>
            </a:r>
            <a:endParaRPr lang="en-US" dirty="0"/>
          </a:p>
          <a:p>
            <a:r>
              <a:rPr lang="en-US" sz="1800" dirty="0">
                <a:solidFill>
                  <a:srgbClr val="000000"/>
                </a:solidFill>
                <a:effectLst/>
                <a:latin typeface="Times New Roman" panose="02020603050405020304" pitchFamily="18" charset="0"/>
              </a:rPr>
              <a:t>unwanted noise or drift in the lower frequency range.</a:t>
            </a:r>
            <a:endParaRPr lang="en-IN" dirty="0"/>
          </a:p>
        </p:txBody>
      </p:sp>
      <p:pic>
        <p:nvPicPr>
          <p:cNvPr id="5" name="Picture 4">
            <a:extLst>
              <a:ext uri="{FF2B5EF4-FFF2-40B4-BE49-F238E27FC236}">
                <a16:creationId xmlns:a16="http://schemas.microsoft.com/office/drawing/2014/main" id="{575896AC-4C55-CC02-2B48-264832183371}"/>
              </a:ext>
            </a:extLst>
          </p:cNvPr>
          <p:cNvPicPr>
            <a:picLocks noChangeAspect="1"/>
          </p:cNvPicPr>
          <p:nvPr/>
        </p:nvPicPr>
        <p:blipFill>
          <a:blip r:embed="rId2"/>
          <a:stretch>
            <a:fillRect/>
          </a:stretch>
        </p:blipFill>
        <p:spPr>
          <a:xfrm>
            <a:off x="7737987" y="3637935"/>
            <a:ext cx="3949022" cy="2854940"/>
          </a:xfrm>
          <a:prstGeom prst="rect">
            <a:avLst/>
          </a:prstGeom>
        </p:spPr>
      </p:pic>
    </p:spTree>
    <p:extLst>
      <p:ext uri="{BB962C8B-B14F-4D97-AF65-F5344CB8AC3E}">
        <p14:creationId xmlns:p14="http://schemas.microsoft.com/office/powerpoint/2010/main" val="1120560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829F77-9DC4-CF1C-18F6-ABFC8A4711EF}"/>
              </a:ext>
            </a:extLst>
          </p:cNvPr>
          <p:cNvSpPr>
            <a:spLocks noGrp="1"/>
          </p:cNvSpPr>
          <p:nvPr>
            <p:ph idx="1"/>
          </p:nvPr>
        </p:nvSpPr>
        <p:spPr/>
        <p:txBody>
          <a:bodyPr/>
          <a:lstStyle/>
          <a:p>
            <a:pPr marL="0" indent="0">
              <a:buNone/>
            </a:pPr>
            <a:r>
              <a:rPr lang="en-IN" sz="2400" b="1" dirty="0">
                <a:solidFill>
                  <a:srgbClr val="C00000"/>
                </a:solidFill>
                <a:effectLst/>
                <a:latin typeface="TimesNewRomanPS-BoldMT"/>
              </a:rPr>
              <a:t>Identifying multiple solutions </a:t>
            </a:r>
          </a:p>
          <a:p>
            <a:pPr marL="0" indent="0">
              <a:buNone/>
            </a:pPr>
            <a:r>
              <a:rPr lang="en-IN" sz="1800" dirty="0">
                <a:solidFill>
                  <a:srgbClr val="000000"/>
                </a:solidFill>
                <a:effectLst/>
                <a:latin typeface="Times New Roman" panose="02020603050405020304" pitchFamily="18" charset="0"/>
              </a:rPr>
              <a:t>"</a:t>
            </a:r>
            <a:r>
              <a:rPr lang="en-IN" sz="1800" b="1" dirty="0">
                <a:solidFill>
                  <a:srgbClr val="000000"/>
                </a:solidFill>
                <a:effectLst/>
                <a:latin typeface="TimesNewRomanPS-BoldMT"/>
              </a:rPr>
              <a:t>Minimizing Distortion through Digital Filtering and System Design" </a:t>
            </a:r>
            <a:endParaRPr lang="en-IN" sz="1800" dirty="0"/>
          </a:p>
          <a:p>
            <a:r>
              <a:rPr lang="en-IN" sz="1800" dirty="0">
                <a:solidFill>
                  <a:srgbClr val="000000"/>
                </a:solidFill>
                <a:effectLst/>
                <a:latin typeface="Times New Roman" panose="02020603050405020304" pitchFamily="18" charset="0"/>
              </a:rPr>
              <a:t>Minimizing distortion through digital filtering involves shaping the frequency response to remove </a:t>
            </a:r>
            <a:endParaRPr lang="en-IN" dirty="0"/>
          </a:p>
          <a:p>
            <a:r>
              <a:rPr lang="en-IN" sz="1800" dirty="0">
                <a:solidFill>
                  <a:srgbClr val="000000"/>
                </a:solidFill>
                <a:effectLst/>
                <a:latin typeface="Times New Roman" panose="02020603050405020304" pitchFamily="18" charset="0"/>
              </a:rPr>
              <a:t>unwanted noise while preserving signal integrity. Proper system design ensures minimal impact on </a:t>
            </a:r>
            <a:endParaRPr lang="en-IN" dirty="0"/>
          </a:p>
          <a:p>
            <a:r>
              <a:rPr lang="en-IN" sz="1800" dirty="0">
                <a:solidFill>
                  <a:srgbClr val="000000"/>
                </a:solidFill>
                <a:effectLst/>
                <a:latin typeface="Times New Roman" panose="02020603050405020304" pitchFamily="18" charset="0"/>
              </a:rPr>
              <a:t>signal quality and accuracy</a:t>
            </a:r>
            <a:endParaRPr lang="en-IN" dirty="0"/>
          </a:p>
        </p:txBody>
      </p:sp>
      <p:pic>
        <p:nvPicPr>
          <p:cNvPr id="5" name="Picture 4">
            <a:extLst>
              <a:ext uri="{FF2B5EF4-FFF2-40B4-BE49-F238E27FC236}">
                <a16:creationId xmlns:a16="http://schemas.microsoft.com/office/drawing/2014/main" id="{E03D3229-8CE3-401B-BFB9-67DC89B720B8}"/>
              </a:ext>
            </a:extLst>
          </p:cNvPr>
          <p:cNvPicPr>
            <a:picLocks noChangeAspect="1"/>
          </p:cNvPicPr>
          <p:nvPr/>
        </p:nvPicPr>
        <p:blipFill>
          <a:blip r:embed="rId2"/>
          <a:stretch>
            <a:fillRect/>
          </a:stretch>
        </p:blipFill>
        <p:spPr>
          <a:xfrm>
            <a:off x="8249264" y="3723845"/>
            <a:ext cx="3656265" cy="3018598"/>
          </a:xfrm>
          <a:prstGeom prst="rect">
            <a:avLst/>
          </a:prstGeom>
        </p:spPr>
      </p:pic>
    </p:spTree>
    <p:extLst>
      <p:ext uri="{BB962C8B-B14F-4D97-AF65-F5344CB8AC3E}">
        <p14:creationId xmlns:p14="http://schemas.microsoft.com/office/powerpoint/2010/main" val="3572499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728651"/>
            <a:ext cx="12128848" cy="0"/>
          </a:xfrm>
          <a:prstGeom prst="line">
            <a:avLst/>
          </a:prstGeom>
        </p:spPr>
        <p:style>
          <a:lnRef idx="1">
            <a:schemeClr val="accent2"/>
          </a:lnRef>
          <a:fillRef idx="0">
            <a:schemeClr val="accent2"/>
          </a:fillRef>
          <a:effectRef idx="0">
            <a:schemeClr val="accent2"/>
          </a:effectRef>
          <a:fontRef idx="minor">
            <a:schemeClr val="tx1"/>
          </a:fontRef>
        </p:style>
      </p:cxnSp>
      <p:sp>
        <p:nvSpPr>
          <p:cNvPr id="4" name="AutoShape 2" descr="Jawaharlal Nehru Medical College"/>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sz="1400"/>
          </a:p>
        </p:txBody>
      </p:sp>
      <p:sp>
        <p:nvSpPr>
          <p:cNvPr id="5" name="AutoShape 5" descr="JNMC BELAGAVI - 2022 Admission Process, Ranking, Reviews, Affiliations"/>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sz="1400"/>
          </a:p>
        </p:txBody>
      </p:sp>
      <p:pic>
        <p:nvPicPr>
          <p:cNvPr id="7" name="Picture 6">
            <a:extLst>
              <a:ext uri="{FF2B5EF4-FFF2-40B4-BE49-F238E27FC236}">
                <a16:creationId xmlns:a16="http://schemas.microsoft.com/office/drawing/2014/main" id="{D15D0EE9-910C-82F8-11D7-2C27A88B4AC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63" r="38198" b="64454"/>
          <a:stretch/>
        </p:blipFill>
        <p:spPr>
          <a:xfrm>
            <a:off x="8910493" y="76201"/>
            <a:ext cx="3218355" cy="582889"/>
          </a:xfrm>
          <a:prstGeom prst="rect">
            <a:avLst/>
          </a:prstGeom>
        </p:spPr>
      </p:pic>
      <p:sp>
        <p:nvSpPr>
          <p:cNvPr id="9" name="TextBox 8">
            <a:extLst>
              <a:ext uri="{FF2B5EF4-FFF2-40B4-BE49-F238E27FC236}">
                <a16:creationId xmlns:a16="http://schemas.microsoft.com/office/drawing/2014/main" id="{6012AB5E-1560-712F-8183-68EF2537F3A0}"/>
              </a:ext>
            </a:extLst>
          </p:cNvPr>
          <p:cNvSpPr txBox="1"/>
          <p:nvPr/>
        </p:nvSpPr>
        <p:spPr>
          <a:xfrm>
            <a:off x="0" y="152556"/>
            <a:ext cx="8754918" cy="400110"/>
          </a:xfrm>
          <a:prstGeom prst="rect">
            <a:avLst/>
          </a:prstGeom>
          <a:noFill/>
        </p:spPr>
        <p:txBody>
          <a:bodyPr wrap="square">
            <a:spAutoFit/>
          </a:bodyPr>
          <a:lstStyle/>
          <a:p>
            <a:r>
              <a:rPr lang="en-IN" altLang="ko-KR" sz="2000" b="1" dirty="0">
                <a:solidFill>
                  <a:srgbClr val="0070C0"/>
                </a:solidFill>
              </a:rPr>
              <a:t>Noise Cancellation in ECG Signal</a:t>
            </a:r>
            <a:endParaRPr lang="ko-KR" altLang="en-US" sz="2000" b="1" dirty="0">
              <a:solidFill>
                <a:srgbClr val="0070C0"/>
              </a:solidFill>
            </a:endParaRPr>
          </a:p>
        </p:txBody>
      </p:sp>
      <p:sp>
        <p:nvSpPr>
          <p:cNvPr id="2" name="TextBox 1">
            <a:extLst>
              <a:ext uri="{FF2B5EF4-FFF2-40B4-BE49-F238E27FC236}">
                <a16:creationId xmlns:a16="http://schemas.microsoft.com/office/drawing/2014/main" id="{94604674-74FA-6307-56E7-2B8478ADF7C8}"/>
              </a:ext>
            </a:extLst>
          </p:cNvPr>
          <p:cNvSpPr txBox="1"/>
          <p:nvPr/>
        </p:nvSpPr>
        <p:spPr>
          <a:xfrm>
            <a:off x="155575" y="1762354"/>
            <a:ext cx="6817508" cy="830997"/>
          </a:xfrm>
          <a:prstGeom prst="rect">
            <a:avLst/>
          </a:prstGeom>
          <a:noFill/>
        </p:spPr>
        <p:txBody>
          <a:bodyPr wrap="square" rtlCol="0">
            <a:spAutoFit/>
          </a:bodyPr>
          <a:lstStyle/>
          <a:p>
            <a:r>
              <a:rPr lang="en-IN" sz="1600" b="1" dirty="0">
                <a:cs typeface="Arial" panose="020B0604020202020204" pitchFamily="34" charset="0"/>
              </a:rPr>
              <a:t>Problem Statement: </a:t>
            </a:r>
            <a:r>
              <a:rPr lang="en-US" sz="1600" dirty="0"/>
              <a:t>Build a noise cancellation function for ECG signals that can remove a wide range of noise types without affecting the essential features of the signal.</a:t>
            </a:r>
            <a:r>
              <a:rPr lang="en-IN" altLang="ko-KR" sz="1600" dirty="0"/>
              <a:t> </a:t>
            </a:r>
            <a:endParaRPr lang="ko-KR" altLang="en-US" sz="1600" dirty="0"/>
          </a:p>
        </p:txBody>
      </p:sp>
      <p:sp>
        <p:nvSpPr>
          <p:cNvPr id="6" name="Rectangle 5">
            <a:extLst>
              <a:ext uri="{FF2B5EF4-FFF2-40B4-BE49-F238E27FC236}">
                <a16:creationId xmlns:a16="http://schemas.microsoft.com/office/drawing/2014/main" id="{DC1D78AD-92C4-D411-5F9C-631F924F1AA2}"/>
              </a:ext>
            </a:extLst>
          </p:cNvPr>
          <p:cNvSpPr/>
          <p:nvPr/>
        </p:nvSpPr>
        <p:spPr>
          <a:xfrm>
            <a:off x="155575" y="2581943"/>
            <a:ext cx="5762765" cy="1323439"/>
          </a:xfrm>
          <a:prstGeom prst="rect">
            <a:avLst/>
          </a:prstGeom>
        </p:spPr>
        <p:txBody>
          <a:bodyPr wrap="square">
            <a:spAutoFit/>
          </a:bodyPr>
          <a:lstStyle/>
          <a:p>
            <a:pPr algn="just"/>
            <a:r>
              <a:rPr lang="en-IN" sz="1600" b="1" dirty="0">
                <a:cs typeface="Arial" panose="020B0604020202020204" pitchFamily="34" charset="0"/>
              </a:rPr>
              <a:t>Deliverables :</a:t>
            </a:r>
          </a:p>
          <a:p>
            <a:pPr marL="285750" indent="-285750" algn="just">
              <a:buFont typeface="Arial" panose="020B0604020202020204" pitchFamily="34" charset="0"/>
              <a:buChar char="•"/>
            </a:pPr>
            <a:r>
              <a:rPr lang="en-US" sz="1600" dirty="0">
                <a:cs typeface="Arial" panose="020B0604020202020204" pitchFamily="34" charset="0"/>
              </a:rPr>
              <a:t>Enhanced signal clarity by effectively removing noise.</a:t>
            </a:r>
          </a:p>
          <a:p>
            <a:pPr marL="285750" indent="-285750" algn="just">
              <a:buFont typeface="Arial" panose="020B0604020202020204" pitchFamily="34" charset="0"/>
              <a:buChar char="•"/>
            </a:pPr>
            <a:r>
              <a:rPr lang="en-US" sz="1600" dirty="0">
                <a:cs typeface="Arial" panose="020B0604020202020204" pitchFamily="34" charset="0"/>
              </a:rPr>
              <a:t>Validation using diverse and large ECG datasets.</a:t>
            </a:r>
            <a:endParaRPr lang="en-IN" sz="1600" dirty="0">
              <a:cs typeface="Arial" panose="020B0604020202020204" pitchFamily="34" charset="0"/>
            </a:endParaRPr>
          </a:p>
          <a:p>
            <a:pPr algn="just"/>
            <a:r>
              <a:rPr lang="en-IN" sz="1600" b="1" dirty="0">
                <a:cs typeface="Arial" panose="020B0604020202020204" pitchFamily="34" charset="0"/>
              </a:rPr>
              <a:t> </a:t>
            </a:r>
          </a:p>
          <a:p>
            <a:pPr algn="just"/>
            <a:endParaRPr lang="en-IN" sz="1600" b="1" dirty="0">
              <a:cs typeface="Arial" panose="020B0604020202020204" pitchFamily="34" charset="0"/>
            </a:endParaRPr>
          </a:p>
        </p:txBody>
      </p:sp>
      <p:sp>
        <p:nvSpPr>
          <p:cNvPr id="8" name="TextBox 7">
            <a:extLst>
              <a:ext uri="{FF2B5EF4-FFF2-40B4-BE49-F238E27FC236}">
                <a16:creationId xmlns:a16="http://schemas.microsoft.com/office/drawing/2014/main" id="{C7BE5A2F-05FB-B929-8B2E-A621EB72DDCA}"/>
              </a:ext>
            </a:extLst>
          </p:cNvPr>
          <p:cNvSpPr txBox="1"/>
          <p:nvPr/>
        </p:nvSpPr>
        <p:spPr>
          <a:xfrm>
            <a:off x="133517" y="3360445"/>
            <a:ext cx="6071534" cy="584775"/>
          </a:xfrm>
          <a:prstGeom prst="rect">
            <a:avLst/>
          </a:prstGeom>
          <a:noFill/>
        </p:spPr>
        <p:txBody>
          <a:bodyPr wrap="square" rtlCol="0">
            <a:spAutoFit/>
          </a:bodyPr>
          <a:lstStyle/>
          <a:p>
            <a:r>
              <a:rPr lang="en-IN" sz="1600" b="1" dirty="0">
                <a:cs typeface="Arial" panose="020B0604020202020204" pitchFamily="34" charset="0"/>
              </a:rPr>
              <a:t>Training / Pre-Requisites</a:t>
            </a:r>
          </a:p>
          <a:p>
            <a:pPr marL="285750" indent="-285750" algn="just">
              <a:buFont typeface="Arial" panose="020B0604020202020204" pitchFamily="34" charset="0"/>
              <a:buChar char="•"/>
            </a:pPr>
            <a:r>
              <a:rPr lang="en-US" sz="1600" dirty="0">
                <a:cs typeface="Arial" panose="020B0604020202020204" pitchFamily="34" charset="0"/>
              </a:rPr>
              <a:t>Understanding of Adaptive RLS filters, MATLAB and Filter design.</a:t>
            </a:r>
          </a:p>
        </p:txBody>
      </p:sp>
      <p:sp>
        <p:nvSpPr>
          <p:cNvPr id="10" name="TextBox 9">
            <a:extLst>
              <a:ext uri="{FF2B5EF4-FFF2-40B4-BE49-F238E27FC236}">
                <a16:creationId xmlns:a16="http://schemas.microsoft.com/office/drawing/2014/main" id="{1C116B9C-F1E5-E24D-9D2F-D0E8A384333F}"/>
              </a:ext>
            </a:extLst>
          </p:cNvPr>
          <p:cNvSpPr txBox="1"/>
          <p:nvPr/>
        </p:nvSpPr>
        <p:spPr>
          <a:xfrm>
            <a:off x="110910" y="4082919"/>
            <a:ext cx="6199215" cy="2554545"/>
          </a:xfrm>
          <a:prstGeom prst="rect">
            <a:avLst/>
          </a:prstGeom>
        </p:spPr>
        <p:txBody>
          <a:bodyPr wrap="square">
            <a:spAutoFit/>
          </a:bodyPr>
          <a:lstStyle>
            <a:defPPr>
              <a:defRPr lang="en-US"/>
            </a:defPPr>
            <a:lvl1pPr>
              <a:defRPr sz="1400" b="1">
                <a:latin typeface="Arial" panose="020B0604020202020204" pitchFamily="34" charset="0"/>
                <a:cs typeface="Arial" panose="020B0604020202020204" pitchFamily="34" charset="0"/>
              </a:defRPr>
            </a:lvl1pPr>
          </a:lstStyle>
          <a:p>
            <a:pPr algn="just"/>
            <a:r>
              <a:rPr lang="en-IN" sz="1600" dirty="0">
                <a:latin typeface="+mn-lt"/>
              </a:rPr>
              <a:t>Starter Reference Material</a:t>
            </a:r>
          </a:p>
          <a:p>
            <a:pPr marL="285750" indent="-285750" algn="just">
              <a:buFont typeface="Arial" panose="020B0604020202020204" pitchFamily="34" charset="0"/>
              <a:buChar char="•"/>
            </a:pPr>
            <a:r>
              <a:rPr lang="en-US" sz="1600" b="0" dirty="0">
                <a:latin typeface="+mn-lt"/>
                <a:cs typeface="+mn-cs"/>
              </a:rPr>
              <a:t>Pan, J., &amp; Tompkins, W. J., 1985. A real-time QRS detection algorithm. IEEE Transactions on Biomedical Engineering, (3), pp. 230-236.</a:t>
            </a:r>
          </a:p>
          <a:p>
            <a:pPr algn="just"/>
            <a:endParaRPr lang="en-US" sz="1600" b="0" dirty="0">
              <a:latin typeface="+mn-lt"/>
              <a:cs typeface="+mn-cs"/>
            </a:endParaRPr>
          </a:p>
          <a:p>
            <a:pPr marL="285750" indent="-285750" algn="just">
              <a:buFont typeface="Arial" panose="020B0604020202020204" pitchFamily="34" charset="0"/>
              <a:buChar char="•"/>
            </a:pPr>
            <a:r>
              <a:rPr lang="en-US" sz="1600" b="0" dirty="0">
                <a:latin typeface="+mn-lt"/>
                <a:cs typeface="+mn-cs"/>
              </a:rPr>
              <a:t>Addison, P. S., 2005. Wavelet transforms and the ECG: A review. Physiological Measurement, 26(5), pp. R155-R199.</a:t>
            </a:r>
          </a:p>
          <a:p>
            <a:pPr algn="just"/>
            <a:endParaRPr lang="en-US" sz="1600" b="0" dirty="0">
              <a:latin typeface="+mn-lt"/>
              <a:cs typeface="+mn-cs"/>
            </a:endParaRPr>
          </a:p>
          <a:p>
            <a:pPr marL="285750" indent="-285750" algn="just">
              <a:buFont typeface="Arial" panose="020B0604020202020204" pitchFamily="34" charset="0"/>
              <a:buChar char="•"/>
            </a:pPr>
            <a:r>
              <a:rPr lang="en-US" sz="1600" b="0" dirty="0">
                <a:latin typeface="+mn-lt"/>
                <a:cs typeface="+mn-cs"/>
              </a:rPr>
              <a:t>Laguna, P., </a:t>
            </a:r>
            <a:r>
              <a:rPr lang="en-US" sz="1600" b="0" dirty="0" err="1">
                <a:latin typeface="+mn-lt"/>
                <a:cs typeface="+mn-cs"/>
              </a:rPr>
              <a:t>Jané</a:t>
            </a:r>
            <a:r>
              <a:rPr lang="en-US" sz="1600" b="0" dirty="0">
                <a:latin typeface="+mn-lt"/>
                <a:cs typeface="+mn-cs"/>
              </a:rPr>
              <a:t>, R., &amp; </a:t>
            </a:r>
            <a:r>
              <a:rPr lang="en-US" sz="1600" b="0" dirty="0" err="1">
                <a:latin typeface="+mn-lt"/>
                <a:cs typeface="+mn-cs"/>
              </a:rPr>
              <a:t>Caminal</a:t>
            </a:r>
            <a:r>
              <a:rPr lang="en-US" sz="1600" b="0" dirty="0">
                <a:latin typeface="+mn-lt"/>
                <a:cs typeface="+mn-cs"/>
              </a:rPr>
              <a:t>, P., 1994. Adaptive filtering of ECG baseline wander. IEEE Engineering in Medicine and Biology Magazine, 11(6), pp. 30-35.</a:t>
            </a:r>
            <a:endParaRPr lang="en-IN" sz="1600" b="0" dirty="0">
              <a:latin typeface="+mn-lt"/>
              <a:cs typeface="+mn-cs"/>
            </a:endParaRPr>
          </a:p>
        </p:txBody>
      </p:sp>
      <p:sp>
        <p:nvSpPr>
          <p:cNvPr id="39" name="TextBox 38"/>
          <p:cNvSpPr txBox="1"/>
          <p:nvPr/>
        </p:nvSpPr>
        <p:spPr>
          <a:xfrm>
            <a:off x="7446760" y="3383943"/>
            <a:ext cx="932900" cy="307777"/>
          </a:xfrm>
          <a:prstGeom prst="rect">
            <a:avLst/>
          </a:prstGeom>
          <a:noFill/>
        </p:spPr>
        <p:txBody>
          <a:bodyPr wrap="square" rtlCol="0">
            <a:spAutoFit/>
          </a:bodyPr>
          <a:lstStyle/>
          <a:p>
            <a:r>
              <a:rPr lang="en-US" sz="1400" dirty="0">
                <a:solidFill>
                  <a:schemeClr val="bg1"/>
                </a:solidFill>
              </a:rPr>
              <a:t>Drivable</a:t>
            </a:r>
            <a:r>
              <a:rPr lang="en-US" sz="1400" dirty="0"/>
              <a:t> </a:t>
            </a:r>
            <a:endParaRPr lang="en-IN" sz="1400" dirty="0"/>
          </a:p>
        </p:txBody>
      </p:sp>
      <p:sp>
        <p:nvSpPr>
          <p:cNvPr id="46" name="Rectangle 45"/>
          <p:cNvSpPr/>
          <p:nvPr/>
        </p:nvSpPr>
        <p:spPr>
          <a:xfrm>
            <a:off x="6741168" y="4458052"/>
            <a:ext cx="841897"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Samsung Sharp Sans Bold" pitchFamily="2" charset="0"/>
              </a:rPr>
              <a:t>Timeline</a:t>
            </a:r>
          </a:p>
        </p:txBody>
      </p:sp>
      <p:cxnSp>
        <p:nvCxnSpPr>
          <p:cNvPr id="47" name="Straight Connector 46"/>
          <p:cNvCxnSpPr>
            <a:stCxn id="48" idx="6"/>
          </p:cNvCxnSpPr>
          <p:nvPr/>
        </p:nvCxnSpPr>
        <p:spPr>
          <a:xfrm flipV="1">
            <a:off x="6637584" y="5452393"/>
            <a:ext cx="4645381" cy="9403"/>
          </a:xfrm>
          <a:prstGeom prst="line">
            <a:avLst/>
          </a:prstGeom>
          <a:ln w="12700">
            <a:solidFill>
              <a:srgbClr val="B2B2B2"/>
            </a:solidFill>
          </a:ln>
        </p:spPr>
        <p:style>
          <a:lnRef idx="1">
            <a:schemeClr val="dk1"/>
          </a:lnRef>
          <a:fillRef idx="0">
            <a:schemeClr val="dk1"/>
          </a:fillRef>
          <a:effectRef idx="0">
            <a:schemeClr val="dk1"/>
          </a:effectRef>
          <a:fontRef idx="minor">
            <a:schemeClr val="tx1"/>
          </a:fontRef>
        </p:style>
      </p:cxnSp>
      <p:sp>
        <p:nvSpPr>
          <p:cNvPr id="48" name="Oval 47"/>
          <p:cNvSpPr/>
          <p:nvPr/>
        </p:nvSpPr>
        <p:spPr>
          <a:xfrm>
            <a:off x="6495344" y="5390676"/>
            <a:ext cx="142240" cy="142240"/>
          </a:xfrm>
          <a:prstGeom prst="ellipse">
            <a:avLst/>
          </a:prstGeom>
          <a:solidFill>
            <a:srgbClr val="2664E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a:ea typeface="+mn-ea"/>
              <a:cs typeface="+mn-cs"/>
            </a:endParaRPr>
          </a:p>
        </p:txBody>
      </p:sp>
      <p:sp>
        <p:nvSpPr>
          <p:cNvPr id="49" name="Oval 48"/>
          <p:cNvSpPr/>
          <p:nvPr/>
        </p:nvSpPr>
        <p:spPr>
          <a:xfrm>
            <a:off x="8848443" y="5364489"/>
            <a:ext cx="142240" cy="142240"/>
          </a:xfrm>
          <a:prstGeom prst="ellipse">
            <a:avLst/>
          </a:prstGeom>
          <a:solidFill>
            <a:srgbClr val="2664E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a:ea typeface="+mn-ea"/>
              <a:cs typeface="+mn-cs"/>
            </a:endParaRPr>
          </a:p>
        </p:txBody>
      </p:sp>
      <p:sp>
        <p:nvSpPr>
          <p:cNvPr id="50" name="Oval 49"/>
          <p:cNvSpPr/>
          <p:nvPr/>
        </p:nvSpPr>
        <p:spPr>
          <a:xfrm>
            <a:off x="11230413" y="5385442"/>
            <a:ext cx="142240" cy="142240"/>
          </a:xfrm>
          <a:prstGeom prst="ellipse">
            <a:avLst/>
          </a:prstGeom>
          <a:solidFill>
            <a:srgbClr val="2664E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a:ea typeface="+mn-ea"/>
              <a:cs typeface="+mn-cs"/>
            </a:endParaRPr>
          </a:p>
        </p:txBody>
      </p:sp>
      <p:sp>
        <p:nvSpPr>
          <p:cNvPr id="51" name="Rectangle 50"/>
          <p:cNvSpPr/>
          <p:nvPr/>
        </p:nvSpPr>
        <p:spPr>
          <a:xfrm>
            <a:off x="6324110" y="4909236"/>
            <a:ext cx="1210588"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Kick Off </a:t>
            </a:r>
            <a:b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b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&lt; 1</a:t>
            </a:r>
            <a:r>
              <a:rPr kumimoji="0" lang="en-IN" sz="1400" b="1" i="0" u="none" strike="noStrike" kern="1200" cap="none" spc="0" normalizeH="0" baseline="3000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st</a:t>
            </a: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  Month &gt;</a:t>
            </a:r>
          </a:p>
        </p:txBody>
      </p:sp>
      <p:sp>
        <p:nvSpPr>
          <p:cNvPr id="52" name="Rectangle 51"/>
          <p:cNvSpPr/>
          <p:nvPr/>
        </p:nvSpPr>
        <p:spPr>
          <a:xfrm>
            <a:off x="8609412" y="4909236"/>
            <a:ext cx="1395112"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Milestone 1 </a:t>
            </a:r>
            <a:b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b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&lt; 2</a:t>
            </a:r>
            <a:r>
              <a:rPr kumimoji="0" lang="en-IN" sz="1400" b="1" i="0" u="none" strike="noStrike" kern="1200" cap="none" spc="0" normalizeH="0" baseline="3000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nd</a:t>
            </a: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 Month &gt;</a:t>
            </a:r>
          </a:p>
        </p:txBody>
      </p:sp>
      <p:sp>
        <p:nvSpPr>
          <p:cNvPr id="53" name="Rectangle 52"/>
          <p:cNvSpPr/>
          <p:nvPr/>
        </p:nvSpPr>
        <p:spPr>
          <a:xfrm>
            <a:off x="10526277" y="4919608"/>
            <a:ext cx="1408271"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Milestone 2 </a:t>
            </a:r>
            <a:b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b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&lt; 3</a:t>
            </a:r>
            <a:r>
              <a:rPr kumimoji="0" lang="en-IN" sz="1400" b="1" i="0" u="none" strike="noStrike" kern="1200" cap="none" spc="0" normalizeH="0" baseline="3000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rd</a:t>
            </a: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 &amp; 4</a:t>
            </a:r>
            <a:r>
              <a:rPr kumimoji="0" lang="en-IN" sz="1400" b="1" i="0" u="none" strike="noStrike" kern="1200" cap="none" spc="0" normalizeH="0" baseline="3000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th</a:t>
            </a:r>
            <a:r>
              <a:rPr kumimoji="0" lang="en-IN" sz="1400" b="1"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cs typeface="+mn-cs"/>
              </a:rPr>
              <a:t> Month </a:t>
            </a:r>
          </a:p>
        </p:txBody>
      </p:sp>
      <p:sp>
        <p:nvSpPr>
          <p:cNvPr id="54" name="TextBox 53"/>
          <p:cNvSpPr txBox="1"/>
          <p:nvPr/>
        </p:nvSpPr>
        <p:spPr>
          <a:xfrm>
            <a:off x="133517" y="681938"/>
            <a:ext cx="6504067" cy="1077218"/>
          </a:xfrm>
          <a:prstGeom prst="rect">
            <a:avLst/>
          </a:prstGeom>
          <a:noFill/>
        </p:spPr>
        <p:txBody>
          <a:bodyPr wrap="square" rtlCol="0">
            <a:spAutoFit/>
          </a:bodyPr>
          <a:lstStyle/>
          <a:p>
            <a:pPr algn="just"/>
            <a:r>
              <a:rPr lang="en-IN" sz="1600" b="1" dirty="0">
                <a:cs typeface="Arial" panose="020B0604020202020204" pitchFamily="34" charset="0"/>
              </a:rPr>
              <a:t>Context: </a:t>
            </a:r>
            <a:r>
              <a:rPr lang="en-US" sz="1600" dirty="0"/>
              <a:t>Noise in ECG signals can obscure essential features, making it challenging to diagnose heart conditions accurately. Developing an effective noise cancellation system improves the clarity of ECG signals, aiding in better diagnosis and analysis.</a:t>
            </a:r>
            <a:endParaRPr lang="en-IN" sz="1600" u="sng" dirty="0">
              <a:solidFill>
                <a:srgbClr val="0070C0"/>
              </a:solidFill>
            </a:endParaRPr>
          </a:p>
        </p:txBody>
      </p:sp>
      <p:sp>
        <p:nvSpPr>
          <p:cNvPr id="23" name="TextBox 22"/>
          <p:cNvSpPr txBox="1"/>
          <p:nvPr/>
        </p:nvSpPr>
        <p:spPr>
          <a:xfrm>
            <a:off x="6406916" y="5501760"/>
            <a:ext cx="2114068" cy="1169551"/>
          </a:xfrm>
          <a:prstGeom prst="rect">
            <a:avLst/>
          </a:prstGeom>
          <a:noFill/>
        </p:spPr>
        <p:txBody>
          <a:bodyPr wrap="square" rtlCol="0">
            <a:spAutoFit/>
          </a:bodyPr>
          <a:lstStyle/>
          <a:p>
            <a:pPr marL="171450" indent="-171450" algn="just">
              <a:buFont typeface="Arial" panose="020B0604020202020204" pitchFamily="34" charset="0"/>
              <a:buChar char="•"/>
            </a:pPr>
            <a:r>
              <a:rPr lang="en-US" sz="1400" dirty="0"/>
              <a:t>Hands-on learning with ECG signal processing and filtering techniques.</a:t>
            </a:r>
          </a:p>
          <a:p>
            <a:pPr algn="just"/>
            <a:endParaRPr lang="en-US" sz="140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400" b="0"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endParaRPr>
          </a:p>
        </p:txBody>
      </p:sp>
      <p:sp>
        <p:nvSpPr>
          <p:cNvPr id="24" name="TextBox 23"/>
          <p:cNvSpPr txBox="1"/>
          <p:nvPr/>
        </p:nvSpPr>
        <p:spPr>
          <a:xfrm>
            <a:off x="8446442" y="5522475"/>
            <a:ext cx="2031285" cy="1169551"/>
          </a:xfrm>
          <a:prstGeom prst="rect">
            <a:avLst/>
          </a:prstGeom>
          <a:noFill/>
        </p:spPr>
        <p:txBody>
          <a:bodyPr wrap="square" rtlCol="0">
            <a:spAutoFit/>
          </a:bodyPr>
          <a:lstStyle/>
          <a:p>
            <a:pPr marL="171450" indent="-171450">
              <a:buFont typeface="Arial" panose="020B0604020202020204" pitchFamily="34" charset="0"/>
              <a:buChar char="•"/>
            </a:pPr>
            <a:r>
              <a:rPr lang="en-US" sz="1400" dirty="0"/>
              <a:t>Finalizing the filtering technique.</a:t>
            </a:r>
          </a:p>
          <a:p>
            <a:pPr marL="171450" indent="-171450">
              <a:buFont typeface="Arial" panose="020B0604020202020204" pitchFamily="34" charset="0"/>
              <a:buChar char="•"/>
            </a:pPr>
            <a:r>
              <a:rPr lang="en-US" sz="1400" dirty="0"/>
              <a:t>Optimizing the filter parameters.</a:t>
            </a:r>
          </a:p>
          <a:p>
            <a:pPr marR="0" lvl="0" algn="l" defTabSz="914400" rtl="0" eaLnBrk="1" fontAlgn="auto" latinLnBrk="0" hangingPunct="1">
              <a:lnSpc>
                <a:spcPct val="100000"/>
              </a:lnSpc>
              <a:spcBef>
                <a:spcPts val="0"/>
              </a:spcBef>
              <a:spcAft>
                <a:spcPts val="0"/>
              </a:spcAft>
              <a:buClrTx/>
              <a:buSzTx/>
              <a:tabLst/>
              <a:defRPr/>
            </a:pPr>
            <a:endParaRPr kumimoji="0" lang="en-IN" sz="1400" b="0"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endParaRPr>
          </a:p>
        </p:txBody>
      </p:sp>
      <p:sp>
        <p:nvSpPr>
          <p:cNvPr id="25" name="TextBox 24"/>
          <p:cNvSpPr txBox="1"/>
          <p:nvPr/>
        </p:nvSpPr>
        <p:spPr>
          <a:xfrm>
            <a:off x="10329842" y="5556500"/>
            <a:ext cx="1963699" cy="954107"/>
          </a:xfrm>
          <a:prstGeom prst="rect">
            <a:avLst/>
          </a:prstGeom>
          <a:noFill/>
        </p:spPr>
        <p:txBody>
          <a:bodyPr wrap="square" rtlCol="0">
            <a:spAutoFit/>
          </a:bodyPr>
          <a:lstStyle/>
          <a:p>
            <a:pPr marL="171450" indent="-171450">
              <a:buFont typeface="Arial" panose="020B0604020202020204" pitchFamily="34" charset="0"/>
              <a:buChar char="•"/>
            </a:pPr>
            <a:r>
              <a:rPr lang="en-US" sz="1400" dirty="0"/>
              <a:t>Testing with large number of dataset.</a:t>
            </a:r>
          </a:p>
          <a:p>
            <a:pPr marL="171450" indent="-171450">
              <a:buFont typeface="Arial" panose="020B0604020202020204" pitchFamily="34" charset="0"/>
              <a:buChar char="•"/>
            </a:pPr>
            <a:r>
              <a:rPr lang="en-US" sz="1400" dirty="0"/>
              <a:t>Documentation. </a:t>
            </a:r>
          </a:p>
          <a:p>
            <a:pPr marR="0" lvl="0" algn="l" defTabSz="914400" rtl="0" eaLnBrk="1" fontAlgn="auto" latinLnBrk="0" hangingPunct="1">
              <a:lnSpc>
                <a:spcPct val="100000"/>
              </a:lnSpc>
              <a:spcBef>
                <a:spcPts val="0"/>
              </a:spcBef>
              <a:spcAft>
                <a:spcPts val="0"/>
              </a:spcAft>
              <a:buClrTx/>
              <a:buSzTx/>
              <a:tabLst/>
              <a:defRPr/>
            </a:pPr>
            <a:endParaRPr kumimoji="0" lang="en-IN" sz="1400" b="0" i="0" u="none" strike="noStrike" kern="1200" cap="none" spc="0" normalizeH="0" baseline="0" noProof="0" dirty="0">
              <a:ln>
                <a:noFill/>
              </a:ln>
              <a:solidFill>
                <a:prstClr val="black"/>
              </a:solidFill>
              <a:effectLst/>
              <a:uLnTx/>
              <a:uFillTx/>
              <a:latin typeface="SamsungOne 800" panose="020B0903030303020204" pitchFamily="34" charset="0"/>
              <a:ea typeface="SamsungOne 800" panose="020B0903030303020204" pitchFamily="34" charset="0"/>
            </a:endParaRPr>
          </a:p>
        </p:txBody>
      </p:sp>
      <p:pic>
        <p:nvPicPr>
          <p:cNvPr id="1028" name="Picture 4" descr="Block Diagram for Adaptive noise cancellation process ">
            <a:extLst>
              <a:ext uri="{FF2B5EF4-FFF2-40B4-BE49-F238E27FC236}">
                <a16:creationId xmlns:a16="http://schemas.microsoft.com/office/drawing/2014/main" id="{FED14179-19CA-789A-D2E5-BA5DB931CD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2243" y="1194486"/>
            <a:ext cx="3554888" cy="317603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08769DE-2336-5C86-1336-63AF64ED1276}"/>
              </a:ext>
            </a:extLst>
          </p:cNvPr>
          <p:cNvSpPr txBox="1"/>
          <p:nvPr/>
        </p:nvSpPr>
        <p:spPr>
          <a:xfrm>
            <a:off x="6771101" y="719562"/>
            <a:ext cx="6172200" cy="369332"/>
          </a:xfrm>
          <a:prstGeom prst="rect">
            <a:avLst/>
          </a:prstGeom>
          <a:noFill/>
        </p:spPr>
        <p:txBody>
          <a:bodyPr wrap="square">
            <a:spAutoFit/>
          </a:bodyPr>
          <a:lstStyle/>
          <a:p>
            <a:r>
              <a:rPr lang="en-IN" sz="1800" b="1" dirty="0">
                <a:cs typeface="Arial" panose="020B0604020202020204" pitchFamily="34" charset="0"/>
              </a:rPr>
              <a:t>Block Diagram:</a:t>
            </a:r>
            <a:endParaRPr lang="en-IN" dirty="0"/>
          </a:p>
        </p:txBody>
      </p:sp>
    </p:spTree>
    <p:extLst>
      <p:ext uri="{BB962C8B-B14F-4D97-AF65-F5344CB8AC3E}">
        <p14:creationId xmlns:p14="http://schemas.microsoft.com/office/powerpoint/2010/main" val="4289930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76D37-50F5-7043-D23B-95F0AED62D9E}"/>
              </a:ext>
            </a:extLst>
          </p:cNvPr>
          <p:cNvSpPr>
            <a:spLocks noGrp="1"/>
          </p:cNvSpPr>
          <p:nvPr>
            <p:ph type="title"/>
          </p:nvPr>
        </p:nvSpPr>
        <p:spPr>
          <a:xfrm>
            <a:off x="238331" y="707538"/>
            <a:ext cx="4163210" cy="1132258"/>
          </a:xfrm>
        </p:spPr>
        <p:txBody>
          <a:bodyPr>
            <a:normAutofit/>
          </a:bodyPr>
          <a:lstStyle/>
          <a:p>
            <a:pPr marL="457200" indent="-457200" algn="ctr">
              <a:buFont typeface="Wingdings"/>
              <a:buChar char="Ø"/>
            </a:pPr>
            <a:r>
              <a:rPr lang="en-US" sz="2800">
                <a:solidFill>
                  <a:srgbClr val="FF0000"/>
                </a:solidFill>
                <a:latin typeface="Times New Roman"/>
                <a:cs typeface="Times New Roman"/>
              </a:rPr>
              <a:t>Project Planning</a:t>
            </a:r>
            <a:endParaRPr lang="en-US"/>
          </a:p>
        </p:txBody>
      </p:sp>
      <p:pic>
        <p:nvPicPr>
          <p:cNvPr id="10" name="Content Placeholder 9" descr="A blue and green rectangular object with black text&#10;&#10;Description automatically generated">
            <a:extLst>
              <a:ext uri="{FF2B5EF4-FFF2-40B4-BE49-F238E27FC236}">
                <a16:creationId xmlns:a16="http://schemas.microsoft.com/office/drawing/2014/main" id="{9764C85E-8438-35F2-ECDF-8DCBAC01DD66}"/>
              </a:ext>
            </a:extLst>
          </p:cNvPr>
          <p:cNvPicPr>
            <a:picLocks noGrp="1" noChangeAspect="1"/>
          </p:cNvPicPr>
          <p:nvPr>
            <p:ph idx="1"/>
          </p:nvPr>
        </p:nvPicPr>
        <p:blipFill>
          <a:blip r:embed="rId2"/>
          <a:stretch>
            <a:fillRect/>
          </a:stretch>
        </p:blipFill>
        <p:spPr>
          <a:xfrm>
            <a:off x="769143" y="1769327"/>
            <a:ext cx="10653713" cy="4587023"/>
          </a:xfrm>
        </p:spPr>
      </p:pic>
      <p:sp>
        <p:nvSpPr>
          <p:cNvPr id="4" name="Slide Number Placeholder 3">
            <a:extLst>
              <a:ext uri="{FF2B5EF4-FFF2-40B4-BE49-F238E27FC236}">
                <a16:creationId xmlns:a16="http://schemas.microsoft.com/office/drawing/2014/main" id="{14882080-9F35-8B00-44DF-FBD1BD136ED8}"/>
              </a:ext>
            </a:extLst>
          </p:cNvPr>
          <p:cNvSpPr>
            <a:spLocks noGrp="1"/>
          </p:cNvSpPr>
          <p:nvPr>
            <p:ph type="sldNum" sz="quarter" idx="12"/>
          </p:nvPr>
        </p:nvSpPr>
        <p:spPr/>
        <p:txBody>
          <a:bodyPr/>
          <a:lstStyle/>
          <a:p>
            <a:fld id="{CC057153-B650-4DEB-B370-79DDCFDCE934}" type="slidenum">
              <a:rPr lang="en-US" dirty="0"/>
              <a:t>11</a:t>
            </a:fld>
            <a:endParaRPr lang="en-US"/>
          </a:p>
        </p:txBody>
      </p:sp>
    </p:spTree>
    <p:extLst>
      <p:ext uri="{BB962C8B-B14F-4D97-AF65-F5344CB8AC3E}">
        <p14:creationId xmlns:p14="http://schemas.microsoft.com/office/powerpoint/2010/main" val="828013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6DA9FA-6BB4-3A48-8114-C1F3BC897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712" y="1359114"/>
            <a:ext cx="9934575" cy="4876800"/>
          </a:xfrm>
          <a:prstGeom prst="rect">
            <a:avLst/>
          </a:prstGeom>
        </p:spPr>
      </p:pic>
      <p:sp>
        <p:nvSpPr>
          <p:cNvPr id="4" name="TextBox 3">
            <a:extLst>
              <a:ext uri="{FF2B5EF4-FFF2-40B4-BE49-F238E27FC236}">
                <a16:creationId xmlns:a16="http://schemas.microsoft.com/office/drawing/2014/main" id="{A0F2A4FA-C439-A789-B9D1-6EEA8CB66A75}"/>
              </a:ext>
            </a:extLst>
          </p:cNvPr>
          <p:cNvSpPr txBox="1"/>
          <p:nvPr/>
        </p:nvSpPr>
        <p:spPr>
          <a:xfrm>
            <a:off x="665835" y="495087"/>
            <a:ext cx="4943276" cy="523220"/>
          </a:xfrm>
          <a:prstGeom prst="rect">
            <a:avLst/>
          </a:prstGeom>
          <a:noFill/>
        </p:spPr>
        <p:txBody>
          <a:bodyPr wrap="none" lIns="91440" tIns="45720" rIns="91440" bIns="45720" rtlCol="0" anchor="t">
            <a:spAutoFit/>
          </a:bodyPr>
          <a:lstStyle/>
          <a:p>
            <a:pPr marL="457200" indent="-457200">
              <a:buFont typeface="Wingdings"/>
              <a:buChar char="Ø"/>
            </a:pPr>
            <a:r>
              <a:rPr lang="en-IN" sz="2800" b="1">
                <a:solidFill>
                  <a:srgbClr val="FF0000"/>
                </a:solidFill>
                <a:latin typeface="Times New Roman"/>
                <a:cs typeface="Times New Roman"/>
              </a:rPr>
              <a:t>Work Breakdown Structure</a:t>
            </a:r>
            <a:endParaRPr lang="en-US" sz="2800">
              <a:solidFill>
                <a:srgbClr val="FF0000"/>
              </a:solidFill>
            </a:endParaRPr>
          </a:p>
        </p:txBody>
      </p:sp>
      <p:sp>
        <p:nvSpPr>
          <p:cNvPr id="2" name="Slide Number Placeholder 1">
            <a:extLst>
              <a:ext uri="{FF2B5EF4-FFF2-40B4-BE49-F238E27FC236}">
                <a16:creationId xmlns:a16="http://schemas.microsoft.com/office/drawing/2014/main" id="{4DA61B91-6B8F-4A97-024A-F0AB9352ABBB}"/>
              </a:ext>
            </a:extLst>
          </p:cNvPr>
          <p:cNvSpPr>
            <a:spLocks noGrp="1"/>
          </p:cNvSpPr>
          <p:nvPr>
            <p:ph type="sldNum" sz="quarter" idx="12"/>
          </p:nvPr>
        </p:nvSpPr>
        <p:spPr/>
        <p:txBody>
          <a:bodyPr/>
          <a:lstStyle/>
          <a:p>
            <a:fld id="{CC057153-B650-4DEB-B370-79DDCFDCE934}" type="slidenum">
              <a:rPr lang="en-US" dirty="0"/>
              <a:t>12</a:t>
            </a:fld>
            <a:endParaRPr lang="en-US"/>
          </a:p>
        </p:txBody>
      </p:sp>
    </p:spTree>
    <p:extLst>
      <p:ext uri="{BB962C8B-B14F-4D97-AF65-F5344CB8AC3E}">
        <p14:creationId xmlns:p14="http://schemas.microsoft.com/office/powerpoint/2010/main" val="415863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77D66-557C-3A37-5593-9932267C1DEA}"/>
              </a:ext>
            </a:extLst>
          </p:cNvPr>
          <p:cNvSpPr txBox="1"/>
          <p:nvPr/>
        </p:nvSpPr>
        <p:spPr>
          <a:xfrm>
            <a:off x="3757056" y="261446"/>
            <a:ext cx="467788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C00000"/>
                </a:solidFill>
                <a:latin typeface="Times New Roman"/>
                <a:cs typeface="Times New Roman"/>
              </a:rPr>
              <a:t>Functional Block diagram:</a:t>
            </a:r>
            <a:endParaRPr lang="en-US" b="1">
              <a:solidFill>
                <a:srgbClr val="C00000"/>
              </a:solidFill>
            </a:endParaRPr>
          </a:p>
        </p:txBody>
      </p:sp>
      <p:sp>
        <p:nvSpPr>
          <p:cNvPr id="11" name="Oval 10">
            <a:extLst>
              <a:ext uri="{FF2B5EF4-FFF2-40B4-BE49-F238E27FC236}">
                <a16:creationId xmlns:a16="http://schemas.microsoft.com/office/drawing/2014/main" id="{A550D858-091F-C293-BE2C-61E60677C7AB}"/>
              </a:ext>
            </a:extLst>
          </p:cNvPr>
          <p:cNvSpPr/>
          <p:nvPr/>
        </p:nvSpPr>
        <p:spPr>
          <a:xfrm>
            <a:off x="9403408" y="293003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solidFill>
                  <a:srgbClr val="111111"/>
                </a:solidFill>
                <a:ea typeface="+mn-lt"/>
                <a:cs typeface="+mn-lt"/>
              </a:rPr>
              <a:t>∑</a:t>
            </a:r>
            <a:endParaRPr lang="en-US"/>
          </a:p>
        </p:txBody>
      </p:sp>
      <p:sp>
        <p:nvSpPr>
          <p:cNvPr id="12" name="Rectangle: Rounded Corners 11">
            <a:extLst>
              <a:ext uri="{FF2B5EF4-FFF2-40B4-BE49-F238E27FC236}">
                <a16:creationId xmlns:a16="http://schemas.microsoft.com/office/drawing/2014/main" id="{F1FD7C0A-BB45-ECD7-A387-E3F9D7FDDB56}"/>
              </a:ext>
            </a:extLst>
          </p:cNvPr>
          <p:cNvSpPr/>
          <p:nvPr/>
        </p:nvSpPr>
        <p:spPr>
          <a:xfrm>
            <a:off x="1330947" y="1341159"/>
            <a:ext cx="147587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Noise Less ECG</a:t>
            </a:r>
          </a:p>
          <a:p>
            <a:pPr algn="ctr"/>
            <a:r>
              <a:rPr lang="en-US"/>
              <a:t>D(n)</a:t>
            </a:r>
          </a:p>
        </p:txBody>
      </p:sp>
      <p:sp>
        <p:nvSpPr>
          <p:cNvPr id="13" name="Rectangle: Rounded Corners 12">
            <a:extLst>
              <a:ext uri="{FF2B5EF4-FFF2-40B4-BE49-F238E27FC236}">
                <a16:creationId xmlns:a16="http://schemas.microsoft.com/office/drawing/2014/main" id="{F5B74906-5532-B9A8-1621-4C3A57AD095A}"/>
              </a:ext>
            </a:extLst>
          </p:cNvPr>
          <p:cNvSpPr/>
          <p:nvPr/>
        </p:nvSpPr>
        <p:spPr>
          <a:xfrm>
            <a:off x="1330651" y="2926786"/>
            <a:ext cx="1382295" cy="10079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r>
              <a:rPr lang="en-US"/>
              <a:t>Noisy</a:t>
            </a:r>
          </a:p>
          <a:p>
            <a:pPr algn="ctr"/>
            <a:r>
              <a:rPr lang="en-US"/>
              <a:t>ECG</a:t>
            </a:r>
          </a:p>
          <a:p>
            <a:pPr algn="ctr"/>
            <a:r>
              <a:rPr lang="en-US"/>
              <a:t>X(n)</a:t>
            </a:r>
          </a:p>
          <a:p>
            <a:pPr algn="ctr"/>
            <a:endParaRPr lang="en-US"/>
          </a:p>
        </p:txBody>
      </p:sp>
      <p:sp>
        <p:nvSpPr>
          <p:cNvPr id="14" name="Rectangle: Rounded Corners 13">
            <a:extLst>
              <a:ext uri="{FF2B5EF4-FFF2-40B4-BE49-F238E27FC236}">
                <a16:creationId xmlns:a16="http://schemas.microsoft.com/office/drawing/2014/main" id="{3FEA52DB-9E83-B713-1BC2-DC0241EAD86B}"/>
              </a:ext>
            </a:extLst>
          </p:cNvPr>
          <p:cNvSpPr/>
          <p:nvPr/>
        </p:nvSpPr>
        <p:spPr>
          <a:xfrm>
            <a:off x="5112034" y="2981921"/>
            <a:ext cx="1402347" cy="8876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r>
              <a:rPr lang="en-US"/>
              <a:t>Adaptive Filter</a:t>
            </a:r>
            <a:endParaRPr lang="en-US">
              <a:solidFill>
                <a:srgbClr val="000000"/>
              </a:solidFill>
            </a:endParaRPr>
          </a:p>
          <a:p>
            <a:pPr algn="ctr"/>
            <a:endParaRPr lang="en-US"/>
          </a:p>
        </p:txBody>
      </p:sp>
      <p:sp>
        <p:nvSpPr>
          <p:cNvPr id="15" name="Rectangle: Rounded Corners 14">
            <a:extLst>
              <a:ext uri="{FF2B5EF4-FFF2-40B4-BE49-F238E27FC236}">
                <a16:creationId xmlns:a16="http://schemas.microsoft.com/office/drawing/2014/main" id="{A08120C0-37B2-DE2D-288A-9735C2971CDA}"/>
              </a:ext>
            </a:extLst>
          </p:cNvPr>
          <p:cNvSpPr/>
          <p:nvPr/>
        </p:nvSpPr>
        <p:spPr>
          <a:xfrm>
            <a:off x="6860855" y="4459092"/>
            <a:ext cx="1629610" cy="8943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sz="1800" baseline="0">
                <a:solidFill>
                  <a:srgbClr val="FFFFFF"/>
                </a:solidFill>
                <a:latin typeface="Corbel"/>
                <a:ea typeface="Segoe UI"/>
                <a:cs typeface="Segoe UI"/>
              </a:rPr>
              <a:t>OUTPUT</a:t>
            </a:r>
            <a:r>
              <a:rPr lang="en-US" sz="1800">
                <a:solidFill>
                  <a:srgbClr val="FFFFFF"/>
                </a:solidFill>
                <a:latin typeface="Corbel"/>
                <a:ea typeface="Segoe UI"/>
                <a:cs typeface="Segoe UI"/>
              </a:rPr>
              <a:t>​</a:t>
            </a:r>
          </a:p>
          <a:p>
            <a:pPr algn="ctr" rtl="0"/>
            <a:r>
              <a:rPr lang="en-US" sz="1800" baseline="0">
                <a:solidFill>
                  <a:srgbClr val="FFFFFF"/>
                </a:solidFill>
                <a:latin typeface="Corbel"/>
                <a:ea typeface="Segoe UI"/>
                <a:cs typeface="Segoe UI"/>
              </a:rPr>
              <a:t>Y(n)</a:t>
            </a:r>
            <a:endParaRPr lang="en-US"/>
          </a:p>
        </p:txBody>
      </p:sp>
      <p:sp>
        <p:nvSpPr>
          <p:cNvPr id="16" name="Rectangle: Rounded Corners 15">
            <a:extLst>
              <a:ext uri="{FF2B5EF4-FFF2-40B4-BE49-F238E27FC236}">
                <a16:creationId xmlns:a16="http://schemas.microsoft.com/office/drawing/2014/main" id="{CD2882B1-14B8-4A03-2828-C74773490550}"/>
              </a:ext>
            </a:extLst>
          </p:cNvPr>
          <p:cNvSpPr/>
          <p:nvPr/>
        </p:nvSpPr>
        <p:spPr>
          <a:xfrm>
            <a:off x="6705059" y="5744058"/>
            <a:ext cx="1943767" cy="787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r>
              <a:rPr lang="en-US"/>
              <a:t>Adaptive</a:t>
            </a:r>
          </a:p>
          <a:p>
            <a:pPr algn="ctr"/>
            <a:r>
              <a:rPr lang="en-US"/>
              <a:t>Algorithm</a:t>
            </a:r>
          </a:p>
          <a:p>
            <a:pPr algn="ctr"/>
            <a:endParaRPr lang="en-US"/>
          </a:p>
        </p:txBody>
      </p:sp>
      <p:cxnSp>
        <p:nvCxnSpPr>
          <p:cNvPr id="18" name="Straight Arrow Connector 17">
            <a:extLst>
              <a:ext uri="{FF2B5EF4-FFF2-40B4-BE49-F238E27FC236}">
                <a16:creationId xmlns:a16="http://schemas.microsoft.com/office/drawing/2014/main" id="{19457C95-E6D1-D345-F3B5-496CBC5FFEBA}"/>
              </a:ext>
            </a:extLst>
          </p:cNvPr>
          <p:cNvCxnSpPr/>
          <p:nvPr/>
        </p:nvCxnSpPr>
        <p:spPr>
          <a:xfrm>
            <a:off x="2803262" y="1752450"/>
            <a:ext cx="7043820" cy="12032"/>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id="{EF9B1BF8-3F3E-EADD-3953-1FB80B23040C}"/>
              </a:ext>
            </a:extLst>
          </p:cNvPr>
          <p:cNvCxnSpPr/>
          <p:nvPr/>
        </p:nvCxnSpPr>
        <p:spPr>
          <a:xfrm flipH="1">
            <a:off x="9846821" y="1760808"/>
            <a:ext cx="14704" cy="115503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0" name="Straight Arrow Connector 19">
            <a:extLst>
              <a:ext uri="{FF2B5EF4-FFF2-40B4-BE49-F238E27FC236}">
                <a16:creationId xmlns:a16="http://schemas.microsoft.com/office/drawing/2014/main" id="{297E9BE6-6AE6-4AFD-B707-A7B8DB169E2C}"/>
              </a:ext>
            </a:extLst>
          </p:cNvPr>
          <p:cNvCxnSpPr/>
          <p:nvPr/>
        </p:nvCxnSpPr>
        <p:spPr>
          <a:xfrm flipV="1">
            <a:off x="2708035" y="3396654"/>
            <a:ext cx="2391610" cy="147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5941BE17-AAA8-5478-9F07-D7F1548A144A}"/>
              </a:ext>
            </a:extLst>
          </p:cNvPr>
          <p:cNvCxnSpPr/>
          <p:nvPr/>
        </p:nvCxnSpPr>
        <p:spPr>
          <a:xfrm>
            <a:off x="6503627" y="3366256"/>
            <a:ext cx="2886242" cy="534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99F260CE-82E8-9C46-205F-8AADC87A322E}"/>
              </a:ext>
            </a:extLst>
          </p:cNvPr>
          <p:cNvCxnSpPr>
            <a:cxnSpLocks/>
          </p:cNvCxnSpPr>
          <p:nvPr/>
        </p:nvCxnSpPr>
        <p:spPr>
          <a:xfrm flipH="1">
            <a:off x="7658661" y="3386309"/>
            <a:ext cx="21388" cy="107482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734EB996-9157-A8D3-E549-5159255CAE61}"/>
              </a:ext>
            </a:extLst>
          </p:cNvPr>
          <p:cNvCxnSpPr>
            <a:cxnSpLocks/>
          </p:cNvCxnSpPr>
          <p:nvPr/>
        </p:nvCxnSpPr>
        <p:spPr>
          <a:xfrm flipH="1">
            <a:off x="9867071" y="3865995"/>
            <a:ext cx="8021" cy="2231189"/>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25" name="Straight Arrow Connector 24">
            <a:extLst>
              <a:ext uri="{FF2B5EF4-FFF2-40B4-BE49-F238E27FC236}">
                <a16:creationId xmlns:a16="http://schemas.microsoft.com/office/drawing/2014/main" id="{08A4792C-2127-181A-0F7F-BBEFE9A1221F}"/>
              </a:ext>
            </a:extLst>
          </p:cNvPr>
          <p:cNvCxnSpPr>
            <a:cxnSpLocks/>
          </p:cNvCxnSpPr>
          <p:nvPr/>
        </p:nvCxnSpPr>
        <p:spPr>
          <a:xfrm flipH="1" flipV="1">
            <a:off x="8647924" y="6092079"/>
            <a:ext cx="1217859" cy="801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6" name="Straight Arrow Connector 25">
            <a:extLst>
              <a:ext uri="{FF2B5EF4-FFF2-40B4-BE49-F238E27FC236}">
                <a16:creationId xmlns:a16="http://schemas.microsoft.com/office/drawing/2014/main" id="{769B98B2-347E-F1FF-3397-19DFED082FCF}"/>
              </a:ext>
            </a:extLst>
          </p:cNvPr>
          <p:cNvCxnSpPr>
            <a:cxnSpLocks/>
          </p:cNvCxnSpPr>
          <p:nvPr/>
        </p:nvCxnSpPr>
        <p:spPr>
          <a:xfrm>
            <a:off x="4126671" y="6091838"/>
            <a:ext cx="2725820" cy="18716"/>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BCBE6ADF-5CB9-C818-DC00-FE68259E526F}"/>
              </a:ext>
            </a:extLst>
          </p:cNvPr>
          <p:cNvCxnSpPr>
            <a:cxnSpLocks/>
          </p:cNvCxnSpPr>
          <p:nvPr/>
        </p:nvCxnSpPr>
        <p:spPr>
          <a:xfrm flipH="1">
            <a:off x="4138702" y="3879363"/>
            <a:ext cx="1458493" cy="2204452"/>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5F78A554-D243-D139-38A3-7562A1A3182F}"/>
              </a:ext>
            </a:extLst>
          </p:cNvPr>
          <p:cNvCxnSpPr>
            <a:cxnSpLocks/>
          </p:cNvCxnSpPr>
          <p:nvPr/>
        </p:nvCxnSpPr>
        <p:spPr>
          <a:xfrm flipV="1">
            <a:off x="6122627" y="2409076"/>
            <a:ext cx="399716" cy="62297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9" name="TextBox 28">
            <a:extLst>
              <a:ext uri="{FF2B5EF4-FFF2-40B4-BE49-F238E27FC236}">
                <a16:creationId xmlns:a16="http://schemas.microsoft.com/office/drawing/2014/main" id="{DED9FDEF-BC2F-F5EA-1DDA-42B0C14A825A}"/>
              </a:ext>
            </a:extLst>
          </p:cNvPr>
          <p:cNvSpPr txBox="1"/>
          <p:nvPr/>
        </p:nvSpPr>
        <p:spPr>
          <a:xfrm>
            <a:off x="9253392" y="2519177"/>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t>+</a:t>
            </a:r>
          </a:p>
        </p:txBody>
      </p:sp>
      <p:sp>
        <p:nvSpPr>
          <p:cNvPr id="31" name="TextBox 30">
            <a:extLst>
              <a:ext uri="{FF2B5EF4-FFF2-40B4-BE49-F238E27FC236}">
                <a16:creationId xmlns:a16="http://schemas.microsoft.com/office/drawing/2014/main" id="{443AEC50-A515-7B99-F24F-E014D33C3F7B}"/>
              </a:ext>
            </a:extLst>
          </p:cNvPr>
          <p:cNvSpPr txBox="1"/>
          <p:nvPr/>
        </p:nvSpPr>
        <p:spPr>
          <a:xfrm>
            <a:off x="9066349" y="2868379"/>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t>-</a:t>
            </a:r>
          </a:p>
        </p:txBody>
      </p:sp>
      <p:sp>
        <p:nvSpPr>
          <p:cNvPr id="32" name="TextBox 31">
            <a:extLst>
              <a:ext uri="{FF2B5EF4-FFF2-40B4-BE49-F238E27FC236}">
                <a16:creationId xmlns:a16="http://schemas.microsoft.com/office/drawing/2014/main" id="{00ECD3E7-A760-1EC6-71D9-94EA586389D2}"/>
              </a:ext>
            </a:extLst>
          </p:cNvPr>
          <p:cNvSpPr txBox="1"/>
          <p:nvPr/>
        </p:nvSpPr>
        <p:spPr>
          <a:xfrm>
            <a:off x="8835660" y="616612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E(n)</a:t>
            </a:r>
          </a:p>
        </p:txBody>
      </p:sp>
      <p:sp>
        <p:nvSpPr>
          <p:cNvPr id="2" name="TextBox 1">
            <a:extLst>
              <a:ext uri="{FF2B5EF4-FFF2-40B4-BE49-F238E27FC236}">
                <a16:creationId xmlns:a16="http://schemas.microsoft.com/office/drawing/2014/main" id="{524D6ADA-C7D0-C2CF-464A-A3735AFE55F9}"/>
              </a:ext>
            </a:extLst>
          </p:cNvPr>
          <p:cNvSpPr txBox="1"/>
          <p:nvPr/>
        </p:nvSpPr>
        <p:spPr>
          <a:xfrm>
            <a:off x="1514462" y="4039845"/>
            <a:ext cx="235290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Input  signal</a:t>
            </a:r>
          </a:p>
        </p:txBody>
      </p:sp>
      <p:sp>
        <p:nvSpPr>
          <p:cNvPr id="4" name="TextBox 3">
            <a:extLst>
              <a:ext uri="{FF2B5EF4-FFF2-40B4-BE49-F238E27FC236}">
                <a16:creationId xmlns:a16="http://schemas.microsoft.com/office/drawing/2014/main" id="{91CF0925-16E3-FA9D-101D-E57FDAF217CE}"/>
              </a:ext>
            </a:extLst>
          </p:cNvPr>
          <p:cNvSpPr txBox="1"/>
          <p:nvPr/>
        </p:nvSpPr>
        <p:spPr>
          <a:xfrm>
            <a:off x="1382695" y="2375376"/>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Reference  Signal</a:t>
            </a:r>
          </a:p>
        </p:txBody>
      </p:sp>
      <p:sp>
        <p:nvSpPr>
          <p:cNvPr id="5" name="Slide Number Placeholder 4">
            <a:extLst>
              <a:ext uri="{FF2B5EF4-FFF2-40B4-BE49-F238E27FC236}">
                <a16:creationId xmlns:a16="http://schemas.microsoft.com/office/drawing/2014/main" id="{D4BB4205-789C-982C-B146-5D18B16DB720}"/>
              </a:ext>
            </a:extLst>
          </p:cNvPr>
          <p:cNvSpPr>
            <a:spLocks noGrp="1"/>
          </p:cNvSpPr>
          <p:nvPr>
            <p:ph type="sldNum" sz="quarter" idx="12"/>
          </p:nvPr>
        </p:nvSpPr>
        <p:spPr/>
        <p:txBody>
          <a:bodyPr/>
          <a:lstStyle/>
          <a:p>
            <a:fld id="{CC057153-B650-4DEB-B370-79DDCFDCE934}" type="slidenum">
              <a:rPr lang="en-US" dirty="0"/>
              <a:t>13</a:t>
            </a:fld>
            <a:endParaRPr lang="en-US"/>
          </a:p>
        </p:txBody>
      </p:sp>
    </p:spTree>
    <p:extLst>
      <p:ext uri="{BB962C8B-B14F-4D97-AF65-F5344CB8AC3E}">
        <p14:creationId xmlns:p14="http://schemas.microsoft.com/office/powerpoint/2010/main" val="2414738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39D223-1CD2-16D6-F608-8712DD92788C}"/>
              </a:ext>
            </a:extLst>
          </p:cNvPr>
          <p:cNvSpPr txBox="1"/>
          <p:nvPr/>
        </p:nvSpPr>
        <p:spPr>
          <a:xfrm>
            <a:off x="3893575" y="324465"/>
            <a:ext cx="7531509" cy="523220"/>
          </a:xfrm>
          <a:prstGeom prst="rect">
            <a:avLst/>
          </a:prstGeom>
          <a:noFill/>
        </p:spPr>
        <p:txBody>
          <a:bodyPr wrap="square" rtlCol="0">
            <a:spAutoFit/>
          </a:bodyPr>
          <a:lstStyle/>
          <a:p>
            <a:r>
              <a:rPr lang="en-IN" sz="2800" b="1">
                <a:solidFill>
                  <a:srgbClr val="C00000"/>
                </a:solidFill>
                <a:latin typeface="Times New Roman" panose="02020603050405020304" pitchFamily="18" charset="0"/>
                <a:cs typeface="Times New Roman" panose="02020603050405020304" pitchFamily="18" charset="0"/>
              </a:rPr>
              <a:t>Detailed Block Diagram </a:t>
            </a:r>
          </a:p>
        </p:txBody>
      </p:sp>
      <p:pic>
        <p:nvPicPr>
          <p:cNvPr id="4" name="Picture 3">
            <a:extLst>
              <a:ext uri="{FF2B5EF4-FFF2-40B4-BE49-F238E27FC236}">
                <a16:creationId xmlns:a16="http://schemas.microsoft.com/office/drawing/2014/main" id="{657C99C9-92FA-64DA-E46E-F3605E7724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3" y="2173697"/>
            <a:ext cx="11262167" cy="3103340"/>
          </a:xfrm>
          <a:prstGeom prst="rect">
            <a:avLst/>
          </a:prstGeom>
        </p:spPr>
      </p:pic>
    </p:spTree>
    <p:extLst>
      <p:ext uri="{BB962C8B-B14F-4D97-AF65-F5344CB8AC3E}">
        <p14:creationId xmlns:p14="http://schemas.microsoft.com/office/powerpoint/2010/main" val="2005556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4BA4E1-83C4-04C7-B498-C1E73DF5EE4F}"/>
              </a:ext>
            </a:extLst>
          </p:cNvPr>
          <p:cNvSpPr txBox="1"/>
          <p:nvPr/>
        </p:nvSpPr>
        <p:spPr>
          <a:xfrm>
            <a:off x="3680734" y="253292"/>
            <a:ext cx="863867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C00000"/>
                </a:solidFill>
                <a:latin typeface="Times New Roman" panose="02020603050405020304" pitchFamily="18" charset="0"/>
                <a:ea typeface="+mn-lt"/>
                <a:cs typeface="Times New Roman" panose="02020603050405020304" pitchFamily="18" charset="0"/>
              </a:rPr>
              <a:t>Functional Blocks Integration</a:t>
            </a:r>
            <a:endParaRPr lang="en-US" sz="2800" b="1" err="1">
              <a:solidFill>
                <a:srgbClr val="C00000"/>
              </a:solidFill>
              <a:latin typeface="Times New Roman" panose="02020603050405020304" pitchFamily="18" charset="0"/>
              <a:ea typeface="Calibri"/>
              <a:cs typeface="Times New Roman" panose="02020603050405020304" pitchFamily="18" charset="0"/>
            </a:endParaRPr>
          </a:p>
        </p:txBody>
      </p:sp>
      <p:sp>
        <p:nvSpPr>
          <p:cNvPr id="3" name="TextBox 2">
            <a:extLst>
              <a:ext uri="{FF2B5EF4-FFF2-40B4-BE49-F238E27FC236}">
                <a16:creationId xmlns:a16="http://schemas.microsoft.com/office/drawing/2014/main" id="{353D7852-F427-6982-33A3-AEE00272D684}"/>
              </a:ext>
            </a:extLst>
          </p:cNvPr>
          <p:cNvSpPr txBox="1"/>
          <p:nvPr/>
        </p:nvSpPr>
        <p:spPr>
          <a:xfrm>
            <a:off x="444245" y="1102559"/>
            <a:ext cx="10523621"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b="1">
                <a:ea typeface="Calibri"/>
                <a:cs typeface="Calibri"/>
              </a:rPr>
              <a:t>ECG Signal Block (Primary Input)</a:t>
            </a:r>
          </a:p>
          <a:p>
            <a:r>
              <a:rPr lang="en-US" sz="2400">
                <a:ea typeface="Calibri"/>
                <a:cs typeface="Calibri"/>
              </a:rPr>
              <a:t>This is the clean or noisy ECG signal. Noise can be introduced either by muscle artifacts or power line interference, which needs to be filtered out.</a:t>
            </a:r>
          </a:p>
          <a:p>
            <a:endParaRPr lang="en-US" sz="2400">
              <a:ea typeface="Calibri"/>
              <a:cs typeface="Calibri"/>
            </a:endParaRPr>
          </a:p>
          <a:p>
            <a:pPr marL="342900" indent="-342900">
              <a:buFont typeface="Arial"/>
              <a:buChar char="•"/>
            </a:pPr>
            <a:r>
              <a:rPr lang="en-US" sz="2400" b="1">
                <a:ea typeface="Calibri"/>
                <a:cs typeface="Calibri"/>
              </a:rPr>
              <a:t>Noise Signal Block</a:t>
            </a:r>
            <a:endParaRPr lang="en-US"/>
          </a:p>
          <a:p>
            <a:r>
              <a:rPr lang="en-US" sz="2400">
                <a:ea typeface="Calibri"/>
                <a:cs typeface="Calibri"/>
              </a:rPr>
              <a:t>This is typically modeled as some type of random or predefined noise signal like white Gaussian noise or muscle noise superimposed on the ECG signal.</a:t>
            </a:r>
          </a:p>
          <a:p>
            <a:r>
              <a:rPr lang="en-US" sz="2400">
                <a:ea typeface="Calibri"/>
                <a:cs typeface="Calibri"/>
              </a:rPr>
              <a:t>In real scenarios, the noise might be a separate measurement or estimated signal, but in simulation, it’s often synthetic.</a:t>
            </a:r>
          </a:p>
          <a:p>
            <a:endParaRPr lang="en-US" sz="2400">
              <a:ea typeface="Calibri"/>
              <a:cs typeface="Calibri"/>
            </a:endParaRPr>
          </a:p>
          <a:p>
            <a:pPr marL="342900" indent="-342900">
              <a:buFont typeface="Arial"/>
              <a:buChar char="•"/>
            </a:pPr>
            <a:r>
              <a:rPr lang="en-US" sz="2400" b="1">
                <a:ea typeface="Calibri"/>
                <a:cs typeface="Calibri"/>
              </a:rPr>
              <a:t>Adaptive Filter Block</a:t>
            </a:r>
            <a:endParaRPr lang="en-US"/>
          </a:p>
          <a:p>
            <a:r>
              <a:rPr lang="en-US" sz="2400">
                <a:ea typeface="Calibri"/>
                <a:cs typeface="Calibri"/>
              </a:rPr>
              <a:t>Input to Adaptive Filter: The filter receives both the noisy ECG signal and the reference noise signal (i.e., the noise itself or a prediction of the noise).</a:t>
            </a:r>
          </a:p>
          <a:p>
            <a:r>
              <a:rPr lang="en-US" sz="2400">
                <a:ea typeface="Calibri"/>
                <a:cs typeface="Calibri"/>
              </a:rPr>
              <a:t>Adaptive Filter Structure: An adaptive filter often uses algorithms like LMS (Least Mean Squares) or RLS (Recursive Least Squares).</a:t>
            </a:r>
          </a:p>
          <a:p>
            <a:endParaRPr lang="en-US" sz="2400">
              <a:ea typeface="Calibri"/>
              <a:cs typeface="Calibri"/>
            </a:endParaRPr>
          </a:p>
          <a:p>
            <a:pPr algn="l"/>
            <a:endParaRPr lang="en-US">
              <a:ea typeface="Calibri"/>
              <a:cs typeface="Calibri"/>
            </a:endParaRPr>
          </a:p>
          <a:p>
            <a:endParaRPr lang="en-US" b="1">
              <a:ea typeface="Calibri"/>
              <a:cs typeface="Calibri"/>
            </a:endParaRPr>
          </a:p>
        </p:txBody>
      </p:sp>
    </p:spTree>
    <p:extLst>
      <p:ext uri="{BB962C8B-B14F-4D97-AF65-F5344CB8AC3E}">
        <p14:creationId xmlns:p14="http://schemas.microsoft.com/office/powerpoint/2010/main" val="2852627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A64CB5-5C87-1FDB-DE99-3D1F395158EF}"/>
              </a:ext>
            </a:extLst>
          </p:cNvPr>
          <p:cNvSpPr txBox="1"/>
          <p:nvPr/>
        </p:nvSpPr>
        <p:spPr>
          <a:xfrm>
            <a:off x="903654" y="903102"/>
            <a:ext cx="10389936"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b="1"/>
              <a:t>Error Signal Block</a:t>
            </a:r>
            <a:endParaRPr lang="en-US" sz="2400" b="1">
              <a:ea typeface="Calibri"/>
              <a:cs typeface="Calibri"/>
            </a:endParaRPr>
          </a:p>
          <a:p>
            <a:r>
              <a:rPr lang="en-US" sz="2400"/>
              <a:t> The error signal is the difference between the filtered output and the original (or expected) clean ECG signal. This is crucial in adaptive filtering as it helps the algorithm adjust its coefficients to improve the filtering process. </a:t>
            </a:r>
            <a:endParaRPr lang="en-US" sz="2400">
              <a:ea typeface="Calibri"/>
              <a:cs typeface="Calibri"/>
            </a:endParaRPr>
          </a:p>
          <a:p>
            <a:endParaRPr lang="en-US" sz="2400">
              <a:ea typeface="+mn-lt"/>
              <a:cs typeface="+mn-lt"/>
            </a:endParaRPr>
          </a:p>
          <a:p>
            <a:pPr marL="342900" indent="-342900">
              <a:buFont typeface="Arial"/>
              <a:buChar char="•"/>
            </a:pPr>
            <a:r>
              <a:rPr lang="en-US" sz="2400" b="1">
                <a:ea typeface="+mn-lt"/>
                <a:cs typeface="+mn-lt"/>
              </a:rPr>
              <a:t>Output ECG Signal Block</a:t>
            </a:r>
            <a:endParaRPr lang="en-US" sz="2400" b="1">
              <a:ea typeface="Calibri"/>
              <a:cs typeface="Calibri"/>
            </a:endParaRPr>
          </a:p>
          <a:p>
            <a:r>
              <a:rPr lang="en-US" sz="2400">
                <a:ea typeface="+mn-lt"/>
                <a:cs typeface="+mn-lt"/>
              </a:rPr>
              <a:t>The filtered ECG signal after noise cancellation. Ideally, this signal is cleaner and closer to the original ECG signal without noise.</a:t>
            </a:r>
            <a:endParaRPr lang="en-US" sz="2400"/>
          </a:p>
        </p:txBody>
      </p:sp>
    </p:spTree>
    <p:extLst>
      <p:ext uri="{BB962C8B-B14F-4D97-AF65-F5344CB8AC3E}">
        <p14:creationId xmlns:p14="http://schemas.microsoft.com/office/powerpoint/2010/main" val="3701263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710C4F-3278-DB9C-3CB0-3007BE47E922}"/>
              </a:ext>
            </a:extLst>
          </p:cNvPr>
          <p:cNvSpPr txBox="1"/>
          <p:nvPr/>
        </p:nvSpPr>
        <p:spPr>
          <a:xfrm>
            <a:off x="1229584" y="944087"/>
            <a:ext cx="10615703" cy="7478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mn-lt"/>
                <a:cs typeface="+mn-lt"/>
              </a:rPr>
              <a:t>       Input Signal: </a:t>
            </a:r>
            <a:r>
              <a:rPr lang="en-US" sz="2400" dirty="0">
                <a:ea typeface="+mn-lt"/>
                <a:cs typeface="+mn-lt"/>
              </a:rPr>
              <a:t>Validate data by</a:t>
            </a:r>
            <a:endParaRPr lang="en-US" dirty="0">
              <a:ea typeface="Calibri" panose="020F0502020204030204"/>
              <a:cs typeface="Calibri" panose="020F0502020204030204"/>
            </a:endParaRPr>
          </a:p>
          <a:p>
            <a:pPr lvl="1"/>
            <a:r>
              <a:rPr lang="en-US" sz="2400" dirty="0">
                <a:ea typeface="+mn-lt"/>
                <a:cs typeface="+mn-lt"/>
              </a:rPr>
              <a:t>Plotting the raw ECG signal in the time and frequency domains.</a:t>
            </a:r>
            <a:endParaRPr lang="en-US" dirty="0">
              <a:ea typeface="+mn-lt"/>
              <a:cs typeface="+mn-lt"/>
            </a:endParaRPr>
          </a:p>
          <a:p>
            <a:pPr lvl="1"/>
            <a:r>
              <a:rPr lang="en-US" sz="2400" dirty="0">
                <a:ea typeface="+mn-lt"/>
                <a:cs typeface="+mn-lt"/>
              </a:rPr>
              <a:t>Ensuring correct sampling rates.</a:t>
            </a:r>
            <a:endParaRPr lang="en-US" dirty="0">
              <a:ea typeface="+mn-lt"/>
              <a:cs typeface="+mn-lt"/>
            </a:endParaRPr>
          </a:p>
          <a:p>
            <a:pPr lvl="1"/>
            <a:endParaRPr lang="en-US" sz="2400" dirty="0">
              <a:ea typeface="+mn-lt"/>
              <a:cs typeface="+mn-lt"/>
            </a:endParaRPr>
          </a:p>
          <a:p>
            <a:pPr lvl="1"/>
            <a:r>
              <a:rPr lang="en-US" sz="2400" b="1" dirty="0">
                <a:ea typeface="+mn-lt"/>
                <a:cs typeface="+mn-lt"/>
              </a:rPr>
              <a:t>Preprocessing: </a:t>
            </a:r>
            <a:r>
              <a:rPr lang="en-US" sz="2400" dirty="0">
                <a:ea typeface="+mn-lt"/>
                <a:cs typeface="+mn-lt"/>
              </a:rPr>
              <a:t>Verify high-pass filter output by</a:t>
            </a:r>
            <a:endParaRPr lang="en-US" dirty="0">
              <a:ea typeface="Calibri" panose="020F0502020204030204"/>
              <a:cs typeface="Calibri" panose="020F0502020204030204"/>
            </a:endParaRPr>
          </a:p>
          <a:p>
            <a:pPr lvl="1"/>
            <a:r>
              <a:rPr lang="en-US" sz="2400" dirty="0">
                <a:ea typeface="+mn-lt"/>
                <a:cs typeface="+mn-lt"/>
              </a:rPr>
              <a:t>Check for effective removal of baseline drift.</a:t>
            </a:r>
            <a:endParaRPr lang="en-US" dirty="0">
              <a:ea typeface="Calibri" panose="020F0502020204030204"/>
              <a:cs typeface="Calibri" panose="020F0502020204030204"/>
            </a:endParaRPr>
          </a:p>
          <a:p>
            <a:pPr lvl="1"/>
            <a:r>
              <a:rPr lang="en-US" sz="2400" dirty="0">
                <a:ea typeface="+mn-lt"/>
                <a:cs typeface="+mn-lt"/>
              </a:rPr>
              <a:t>Inspect frequency components to ensure low-frequency noise is reduced.</a:t>
            </a:r>
            <a:endParaRPr lang="en-US" dirty="0">
              <a:ea typeface="Calibri" panose="020F0502020204030204"/>
              <a:cs typeface="Calibri" panose="020F0502020204030204"/>
            </a:endParaRPr>
          </a:p>
          <a:p>
            <a:pPr marL="742950" lvl="1" indent="-285750">
              <a:buFont typeface="Arial"/>
              <a:buChar char="•"/>
            </a:pPr>
            <a:endParaRPr lang="en-US" sz="2400" dirty="0">
              <a:ea typeface="Calibri"/>
              <a:cs typeface="Calibri"/>
            </a:endParaRPr>
          </a:p>
          <a:p>
            <a:pPr marL="457200"/>
            <a:r>
              <a:rPr lang="en-US" sz="2400" b="1" dirty="0">
                <a:ea typeface="+mn-lt"/>
                <a:cs typeface="+mn-lt"/>
              </a:rPr>
              <a:t>Adaptive Filter: </a:t>
            </a:r>
            <a:r>
              <a:rPr lang="en-US" sz="2400" dirty="0">
                <a:ea typeface="+mn-lt"/>
                <a:cs typeface="+mn-lt"/>
              </a:rPr>
              <a:t>Debug LMS algorithm:</a:t>
            </a:r>
            <a:endParaRPr lang="en-US" dirty="0">
              <a:ea typeface="Calibri" panose="020F0502020204030204"/>
              <a:cs typeface="Calibri" panose="020F0502020204030204"/>
            </a:endParaRPr>
          </a:p>
          <a:p>
            <a:pPr lvl="1"/>
            <a:r>
              <a:rPr lang="en-US" sz="2400" dirty="0">
                <a:ea typeface="+mn-lt"/>
                <a:cs typeface="+mn-lt"/>
              </a:rPr>
              <a:t>Monitor filter weights (w(n)w(n)w(n)) over time for stability.</a:t>
            </a:r>
            <a:endParaRPr lang="en-US" dirty="0">
              <a:ea typeface="Calibri" panose="020F0502020204030204"/>
              <a:cs typeface="Calibri" panose="020F0502020204030204"/>
            </a:endParaRPr>
          </a:p>
          <a:p>
            <a:pPr lvl="1"/>
            <a:r>
              <a:rPr lang="en-US" sz="2400" dirty="0">
                <a:ea typeface="+mn-lt"/>
                <a:cs typeface="+mn-lt"/>
              </a:rPr>
              <a:t>Visualize error signal (e(n)e(n)e(n)) to confirm convergence.</a:t>
            </a:r>
            <a:endParaRPr lang="en-US" dirty="0">
              <a:ea typeface="Calibri" panose="020F0502020204030204"/>
              <a:cs typeface="Calibri" panose="020F0502020204030204"/>
            </a:endParaRPr>
          </a:p>
          <a:p>
            <a:pPr lvl="1">
              <a:buFont typeface="Arial"/>
              <a:buChar char="•"/>
            </a:pPr>
            <a:endParaRPr lang="en-US" sz="2400" b="1" dirty="0">
              <a:ea typeface="+mn-lt"/>
              <a:cs typeface="+mn-lt"/>
            </a:endParaRPr>
          </a:p>
          <a:p>
            <a:pPr lvl="1"/>
            <a:r>
              <a:rPr lang="en-US" sz="2400" b="1" dirty="0">
                <a:ea typeface="+mn-lt"/>
                <a:cs typeface="+mn-lt"/>
              </a:rPr>
              <a:t>Performance Evaluation: </a:t>
            </a:r>
            <a:r>
              <a:rPr lang="en-US" sz="2400" dirty="0">
                <a:ea typeface="+mn-lt"/>
                <a:cs typeface="+mn-lt"/>
              </a:rPr>
              <a:t>Check SNR improvement:</a:t>
            </a:r>
            <a:endParaRPr lang="en-US" dirty="0">
              <a:ea typeface="Calibri" panose="020F0502020204030204"/>
              <a:cs typeface="Calibri" panose="020F0502020204030204"/>
            </a:endParaRPr>
          </a:p>
          <a:p>
            <a:pPr lvl="1"/>
            <a:r>
              <a:rPr lang="en-US" sz="2400" dirty="0">
                <a:ea typeface="+mn-lt"/>
                <a:cs typeface="+mn-lt"/>
              </a:rPr>
              <a:t>Compute SNR before and after filtering.</a:t>
            </a:r>
            <a:endParaRPr lang="en-US" dirty="0">
              <a:ea typeface="Calibri" panose="020F0502020204030204"/>
              <a:cs typeface="Calibri" panose="020F0502020204030204"/>
            </a:endParaRPr>
          </a:p>
          <a:p>
            <a:pPr lvl="1"/>
            <a:r>
              <a:rPr lang="en-US" sz="2400" dirty="0">
                <a:ea typeface="+mn-lt"/>
                <a:cs typeface="+mn-lt"/>
              </a:rPr>
              <a:t>Ensure SNR gain aligns with expectations for the chosen noise level.</a:t>
            </a:r>
            <a:endParaRPr lang="en-US" dirty="0">
              <a:ea typeface="Calibri" panose="020F0502020204030204"/>
              <a:cs typeface="Calibri" panose="020F0502020204030204"/>
            </a:endParaRPr>
          </a:p>
          <a:p>
            <a:pPr lvl="1">
              <a:buFont typeface="Arial"/>
              <a:buChar char="•"/>
            </a:pPr>
            <a:endParaRPr lang="en-US" sz="2400" dirty="0">
              <a:ea typeface="Calibri"/>
              <a:cs typeface="Calibri"/>
            </a:endParaRPr>
          </a:p>
          <a:p>
            <a:pPr marL="742950" lvl="1" indent="-285750" algn="l">
              <a:buFont typeface="Arial"/>
              <a:buChar char="•"/>
            </a:pPr>
            <a:endParaRPr lang="en-US" sz="2400" dirty="0">
              <a:ea typeface="Calibri"/>
              <a:cs typeface="Calibri"/>
            </a:endParaRPr>
          </a:p>
          <a:p>
            <a:endParaRPr lang="en-US" sz="2400" dirty="0">
              <a:ea typeface="Calibri"/>
              <a:cs typeface="Calibri"/>
            </a:endParaRPr>
          </a:p>
          <a:p>
            <a:endParaRPr lang="en-US" sz="2400" dirty="0">
              <a:ea typeface="Calibri"/>
              <a:cs typeface="Calibri"/>
            </a:endParaRPr>
          </a:p>
          <a:p>
            <a:endParaRPr lang="en-US" sz="2400" dirty="0">
              <a:ea typeface="Calibri"/>
              <a:cs typeface="Calibri"/>
            </a:endParaRPr>
          </a:p>
        </p:txBody>
      </p:sp>
      <p:sp>
        <p:nvSpPr>
          <p:cNvPr id="3" name="TextBox 2">
            <a:extLst>
              <a:ext uri="{FF2B5EF4-FFF2-40B4-BE49-F238E27FC236}">
                <a16:creationId xmlns:a16="http://schemas.microsoft.com/office/drawing/2014/main" id="{065EE569-EB20-C95A-4C90-F59A9CE868C3}"/>
              </a:ext>
            </a:extLst>
          </p:cNvPr>
          <p:cNvSpPr txBox="1"/>
          <p:nvPr/>
        </p:nvSpPr>
        <p:spPr>
          <a:xfrm>
            <a:off x="4558840" y="137981"/>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C00000"/>
                </a:solidFill>
                <a:latin typeface="Times New Roman" panose="02020603050405020304" pitchFamily="18" charset="0"/>
                <a:ea typeface="Calibri"/>
                <a:cs typeface="Times New Roman" panose="02020603050405020304" pitchFamily="18" charset="0"/>
              </a:rPr>
              <a:t>Debugging</a:t>
            </a:r>
          </a:p>
        </p:txBody>
      </p:sp>
    </p:spTree>
    <p:extLst>
      <p:ext uri="{BB962C8B-B14F-4D97-AF65-F5344CB8AC3E}">
        <p14:creationId xmlns:p14="http://schemas.microsoft.com/office/powerpoint/2010/main" val="3598486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6FF6A20-C7FD-CEC0-5871-C66873512A38}"/>
              </a:ext>
            </a:extLst>
          </p:cNvPr>
          <p:cNvSpPr>
            <a:spLocks noGrp="1" noChangeArrowheads="1"/>
          </p:cNvSpPr>
          <p:nvPr>
            <p:ph idx="1"/>
          </p:nvPr>
        </p:nvSpPr>
        <p:spPr bwMode="auto">
          <a:xfrm>
            <a:off x="304800" y="1171876"/>
            <a:ext cx="11336594"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Noise Sources</a:t>
            </a:r>
            <a:r>
              <a:rPr kumimoji="0" lang="en-US" altLang="en-US" sz="2400" b="0" i="0" u="none" strike="noStrike" cap="none" normalizeH="0" baseline="0">
                <a:ln>
                  <a:noFill/>
                </a:ln>
                <a:effectLst/>
                <a:latin typeface="Arial"/>
                <a:cs typeface="Arial"/>
              </a:rPr>
              <a:t>: Address powerline interference, baseline wandering, and muscle artifacts.</a:t>
            </a:r>
            <a:endParaRPr lang="en-US" altLang="en-US" sz="2400" b="0" i="0" u="none" strike="noStrike" cap="none" normalizeH="0" baseline="0">
              <a:ln>
                <a:noFill/>
              </a:ln>
              <a:effectLst/>
              <a:latin typeface="Arial"/>
              <a:cs typeface="Arial"/>
            </a:endParaRPr>
          </a:p>
          <a:p>
            <a:pPr marL="0" indent="0" eaLnBrk="0" fontAlgn="base" hangingPunct="0">
              <a:lnSpc>
                <a:spcPct val="100000"/>
              </a:lnSpc>
              <a:spcBef>
                <a:spcPct val="0"/>
              </a:spcBef>
              <a:spcAft>
                <a:spcPct val="0"/>
              </a:spcAft>
              <a:buFontTx/>
              <a:buChar char="•"/>
            </a:pPr>
            <a:endParaRPr lang="en-US" altLang="en-US" sz="2400" b="1">
              <a:latin typeface="Arial"/>
              <a:cs typeface="Arial"/>
            </a:endParaRPr>
          </a:p>
          <a:p>
            <a:pPr marL="0" marR="0" lvl="0" indent="0" algn="l" defTabSz="91440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Preprocessing</a:t>
            </a:r>
            <a:r>
              <a:rPr kumimoji="0" lang="en-US" altLang="en-US" sz="2400" b="0" i="0" u="none" strike="noStrike" cap="none" normalizeH="0" baseline="0">
                <a:ln>
                  <a:noFill/>
                </a:ln>
                <a:effectLst/>
                <a:latin typeface="Arial"/>
                <a:cs typeface="Arial"/>
              </a:rPr>
              <a:t>: Use band-pass filters (e.g., 0.5–50 Hz) to isolate ECG signal frequencies.</a:t>
            </a: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Adaptive Filtering</a:t>
            </a:r>
            <a:r>
              <a:rPr kumimoji="0" lang="en-US" altLang="en-US" sz="2400" b="0" i="0" u="none" strike="noStrike" cap="none" normalizeH="0" baseline="0">
                <a:ln>
                  <a:noFill/>
                </a:ln>
                <a:effectLst/>
                <a:latin typeface="Arial"/>
                <a:cs typeface="Arial"/>
              </a:rPr>
              <a:t>: Apply algorithms like LMS (low complexity) or RLS (fast convergence).</a:t>
            </a:r>
            <a:endParaRPr lang="en-US" altLang="en-US" sz="24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i="0" u="none" strike="noStrike" cap="none" normalizeH="0" baseline="0">
              <a:ln>
                <a:noFill/>
              </a:ln>
              <a:effectLst/>
              <a:latin typeface="Arial" panose="020B0604020202020204" pitchFamily="34" charset="0"/>
              <a:cs typeface="Arial"/>
            </a:endParaRPr>
          </a:p>
          <a:p>
            <a:pPr marL="0" indent="0" eaLnBrk="0" fontAlgn="base" hangingPunct="0">
              <a:lnSpc>
                <a:spcPct val="100000"/>
              </a:lnSpc>
              <a:spcBef>
                <a:spcPct val="0"/>
              </a:spcBef>
              <a:spcAft>
                <a:spcPct val="0"/>
              </a:spcAft>
              <a:buFontTx/>
              <a:buChar char="•"/>
            </a:pPr>
            <a:r>
              <a:rPr kumimoji="0" lang="en-US" altLang="en-US" sz="2400" b="1" i="0" u="none" strike="noStrike" cap="none" normalizeH="0" baseline="0">
                <a:ln>
                  <a:noFill/>
                </a:ln>
                <a:effectLst/>
                <a:latin typeface="Arial"/>
                <a:cs typeface="Arial"/>
              </a:rPr>
              <a:t>Optimization</a:t>
            </a:r>
            <a:r>
              <a:rPr kumimoji="0" lang="en-US" altLang="en-US" sz="2400" b="0" i="0" u="none" strike="noStrike" cap="none" normalizeH="0" baseline="0">
                <a:ln>
                  <a:noFill/>
                </a:ln>
                <a:effectLst/>
                <a:latin typeface="Arial"/>
                <a:cs typeface="Arial"/>
              </a:rPr>
              <a:t>:</a:t>
            </a:r>
            <a:r>
              <a:rPr lang="en-US" altLang="en-US" sz="2400">
                <a:latin typeface="Arial"/>
                <a:cs typeface="Arial"/>
              </a:rPr>
              <a:t> </a:t>
            </a:r>
            <a:r>
              <a:rPr kumimoji="0" lang="en-US" altLang="en-US" sz="2400" i="0" u="none" strike="noStrike" cap="none" normalizeH="0" baseline="0">
                <a:ln>
                  <a:noFill/>
                </a:ln>
                <a:effectLst/>
                <a:latin typeface="Arial"/>
                <a:cs typeface="Arial"/>
              </a:rPr>
              <a:t>Dynamic Step Size </a:t>
            </a:r>
            <a:r>
              <a:rPr kumimoji="0" lang="en-US" altLang="en-US" sz="2400" b="0" i="0" u="none" strike="noStrike" cap="none" normalizeH="0" baseline="0">
                <a:ln>
                  <a:noFill/>
                </a:ln>
                <a:effectLst/>
                <a:latin typeface="Arial"/>
                <a:cs typeface="Arial"/>
              </a:rPr>
              <a:t>for adaptive filters.</a:t>
            </a: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a:ln>
                  <a:noFill/>
                </a:ln>
                <a:effectLst/>
                <a:latin typeface="Arial"/>
                <a:cs typeface="Arial"/>
              </a:rPr>
              <a:t>Combine wavelet transforms for multi-resolution noise removal.</a:t>
            </a:r>
            <a:endParaRPr lang="en-US" altLang="en-US" sz="24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Validation</a:t>
            </a:r>
            <a:r>
              <a:rPr kumimoji="0" lang="en-US" altLang="en-US" sz="2400" b="0" i="0" u="none" strike="noStrike" cap="none" normalizeH="0" baseline="0">
                <a:ln>
                  <a:noFill/>
                </a:ln>
                <a:effectLst/>
                <a:latin typeface="Arial"/>
                <a:cs typeface="Arial"/>
              </a:rPr>
              <a:t>: Test algorithms on standard ECG datasets (e.g., MIT-BIH). </a:t>
            </a:r>
            <a:endParaRPr lang="en-US" altLang="en-US" sz="2400" b="0" i="0" u="none" strike="noStrike" cap="none" normalizeH="0" baseline="0">
              <a:ln>
                <a:noFill/>
              </a:ln>
              <a:effectLst/>
              <a:latin typeface="Arial"/>
              <a:cs typeface="Arial"/>
            </a:endParaRPr>
          </a:p>
        </p:txBody>
      </p:sp>
      <p:sp>
        <p:nvSpPr>
          <p:cNvPr id="5" name="Title 4">
            <a:extLst>
              <a:ext uri="{FF2B5EF4-FFF2-40B4-BE49-F238E27FC236}">
                <a16:creationId xmlns:a16="http://schemas.microsoft.com/office/drawing/2014/main" id="{7E5D9644-72E7-4330-8702-877B32A16BAA}"/>
              </a:ext>
            </a:extLst>
          </p:cNvPr>
          <p:cNvSpPr txBox="1">
            <a:spLocks noGrp="1"/>
          </p:cNvSpPr>
          <p:nvPr>
            <p:ph type="title"/>
          </p:nvPr>
        </p:nvSpPr>
        <p:spPr>
          <a:xfrm>
            <a:off x="3982194" y="312346"/>
            <a:ext cx="10515600" cy="480131"/>
          </a:xfrm>
          <a:prstGeom prst="rect">
            <a:avLst/>
          </a:prstGeom>
          <a:noFill/>
        </p:spPr>
        <p:txBody>
          <a:bodyPr wrap="square" rtlCol="0">
            <a:spAutoFit/>
          </a:bodyPr>
          <a:lstStyle/>
          <a:p>
            <a:r>
              <a:rPr lang="en-IN" sz="2800" b="1">
                <a:solidFill>
                  <a:srgbClr val="C00000"/>
                </a:solidFill>
                <a:latin typeface="Times New Roman" panose="02020603050405020304" pitchFamily="18" charset="0"/>
                <a:cs typeface="Times New Roman" panose="02020603050405020304" pitchFamily="18" charset="0"/>
              </a:rPr>
              <a:t>Plan for Optimization </a:t>
            </a:r>
          </a:p>
        </p:txBody>
      </p:sp>
    </p:spTree>
    <p:extLst>
      <p:ext uri="{BB962C8B-B14F-4D97-AF65-F5344CB8AC3E}">
        <p14:creationId xmlns:p14="http://schemas.microsoft.com/office/powerpoint/2010/main" val="1769666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59D78E-F6C4-0412-AD2A-421101E527C4}"/>
              </a:ext>
            </a:extLst>
          </p:cNvPr>
          <p:cNvSpPr>
            <a:spLocks noChangeArrowheads="1"/>
          </p:cNvSpPr>
          <p:nvPr/>
        </p:nvSpPr>
        <p:spPr bwMode="auto">
          <a:xfrm>
            <a:off x="707924" y="986472"/>
            <a:ext cx="1057950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Real-Time Monitoring</a:t>
            </a:r>
            <a:r>
              <a:rPr kumimoji="0" lang="en-US" altLang="en-US" sz="2400" b="0" i="0" u="none" strike="noStrike" cap="none" normalizeH="0" baseline="0">
                <a:ln>
                  <a:noFill/>
                </a:ln>
                <a:effectLst/>
                <a:latin typeface="Arial"/>
                <a:cs typeface="Arial"/>
              </a:rPr>
              <a:t>: Enables wearable and portable device functionality.</a:t>
            </a:r>
            <a:endParaRPr lang="en-US" altLang="en-US" sz="24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Telemedicine</a:t>
            </a:r>
            <a:r>
              <a:rPr kumimoji="0" lang="en-US" altLang="en-US" sz="2400" b="0" i="0" u="none" strike="noStrike" cap="none" normalizeH="0" baseline="0">
                <a:ln>
                  <a:noFill/>
                </a:ln>
                <a:effectLst/>
                <a:latin typeface="Arial"/>
                <a:cs typeface="Arial"/>
              </a:rPr>
              <a:t>: Provides reliable remote diagnosis.</a:t>
            </a:r>
            <a:endParaRPr lang="en-US" altLang="en-US" sz="24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Noise Robustness</a:t>
            </a:r>
            <a:r>
              <a:rPr kumimoji="0" lang="en-US" altLang="en-US" sz="2400" b="0" i="0" u="none" strike="noStrike" cap="none" normalizeH="0" baseline="0">
                <a:ln>
                  <a:noFill/>
                </a:ln>
                <a:effectLst/>
                <a:latin typeface="Arial"/>
                <a:cs typeface="Arial"/>
              </a:rPr>
              <a:t>: Handles varying noise in different environments.</a:t>
            </a:r>
            <a:endParaRPr lang="en-US" altLang="en-US" sz="24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Medical Standards</a:t>
            </a:r>
            <a:r>
              <a:rPr kumimoji="0" lang="en-US" altLang="en-US" sz="2400" b="0" i="0" u="none" strike="noStrike" cap="none" normalizeH="0" baseline="0">
                <a:ln>
                  <a:noFill/>
                </a:ln>
                <a:effectLst/>
                <a:latin typeface="Arial"/>
                <a:cs typeface="Arial"/>
              </a:rPr>
              <a:t>: Meets regulatory requirements for signal quality.</a:t>
            </a:r>
            <a:endParaRPr lang="en-US" altLang="en-US" sz="24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Multi-Channel Systems</a:t>
            </a:r>
            <a:r>
              <a:rPr kumimoji="0" lang="en-US" altLang="en-US" sz="2400" b="0" i="0" u="none" strike="noStrike" cap="none" normalizeH="0" baseline="0">
                <a:ln>
                  <a:noFill/>
                </a:ln>
                <a:effectLst/>
                <a:latin typeface="Arial"/>
                <a:cs typeface="Arial"/>
              </a:rPr>
              <a:t>: Synchronizes noise cancellation across ECG leads.</a:t>
            </a:r>
            <a:endParaRPr lang="en-US" altLang="en-US" sz="24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Char char="•"/>
              <a:tabLst/>
            </a:pP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Cost-Effectiveness</a:t>
            </a:r>
            <a:r>
              <a:rPr kumimoji="0" lang="en-US" altLang="en-US" sz="2400" b="0" i="0" u="none" strike="noStrike" cap="none" normalizeH="0" baseline="0">
                <a:ln>
                  <a:noFill/>
                </a:ln>
                <a:effectLst/>
                <a:latin typeface="Arial"/>
                <a:cs typeface="Arial"/>
              </a:rPr>
              <a:t>: Reduces complexity and production costs. </a:t>
            </a:r>
            <a:endParaRPr lang="en-US" altLang="en-US" sz="24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i="0" u="none" strike="noStrike" cap="none" normalizeH="0" baseline="0">
              <a:ln>
                <a:noFill/>
              </a:ln>
              <a:effectLst/>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effectLst/>
                <a:latin typeface="Arial"/>
                <a:cs typeface="Arial"/>
              </a:rPr>
              <a:t>Diagnostic Accuracy</a:t>
            </a:r>
            <a:r>
              <a:rPr kumimoji="0" lang="en-US" altLang="en-US" sz="2400" b="0" i="0" u="none" strike="noStrike" cap="none" normalizeH="0" baseline="0">
                <a:ln>
                  <a:noFill/>
                </a:ln>
                <a:effectLst/>
                <a:latin typeface="Arial"/>
                <a:cs typeface="Arial"/>
              </a:rPr>
              <a:t>: Ensures clear detection of ECG features (P, QRS, T waves).</a:t>
            </a:r>
            <a:endParaRPr lang="en-US" altLang="en-US" sz="2400" b="0" i="0" u="none" strike="noStrike" cap="none" normalizeH="0" baseline="0">
              <a:ln>
                <a:noFill/>
              </a:ln>
              <a:effectLst/>
              <a:latin typeface="Arial"/>
              <a:cs typeface="Arial"/>
            </a:endParaRPr>
          </a:p>
        </p:txBody>
      </p:sp>
      <p:sp>
        <p:nvSpPr>
          <p:cNvPr id="3" name="Title 4">
            <a:extLst>
              <a:ext uri="{FF2B5EF4-FFF2-40B4-BE49-F238E27FC236}">
                <a16:creationId xmlns:a16="http://schemas.microsoft.com/office/drawing/2014/main" id="{803B9BBD-6CB3-D059-4D80-C375AAF2261E}"/>
              </a:ext>
            </a:extLst>
          </p:cNvPr>
          <p:cNvSpPr txBox="1">
            <a:spLocks/>
          </p:cNvSpPr>
          <p:nvPr/>
        </p:nvSpPr>
        <p:spPr>
          <a:xfrm>
            <a:off x="4119845" y="239217"/>
            <a:ext cx="10515600" cy="480131"/>
          </a:xfrm>
          <a:prstGeom prst="rect">
            <a:avLst/>
          </a:prstGeom>
          <a:noFill/>
        </p:spPr>
        <p:txBody>
          <a:bodyPr wrap="square"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a:solidFill>
                  <a:srgbClr val="C00000"/>
                </a:solidFill>
                <a:latin typeface="Times New Roman" panose="02020603050405020304" pitchFamily="18" charset="0"/>
                <a:cs typeface="Times New Roman" panose="02020603050405020304" pitchFamily="18" charset="0"/>
              </a:rPr>
              <a:t>Need for Optimization </a:t>
            </a:r>
          </a:p>
        </p:txBody>
      </p:sp>
    </p:spTree>
    <p:extLst>
      <p:ext uri="{BB962C8B-B14F-4D97-AF65-F5344CB8AC3E}">
        <p14:creationId xmlns:p14="http://schemas.microsoft.com/office/powerpoint/2010/main" val="2082934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47F966-6583-3804-17A5-31FC9C6FEA29}"/>
              </a:ext>
            </a:extLst>
          </p:cNvPr>
          <p:cNvPicPr>
            <a:picLocks noChangeAspect="1"/>
          </p:cNvPicPr>
          <p:nvPr/>
        </p:nvPicPr>
        <p:blipFill>
          <a:blip r:embed="rId3"/>
          <a:stretch>
            <a:fillRect/>
          </a:stretch>
        </p:blipFill>
        <p:spPr>
          <a:xfrm>
            <a:off x="944762" y="343303"/>
            <a:ext cx="9753600" cy="1066800"/>
          </a:xfrm>
          <a:prstGeom prst="rect">
            <a:avLst/>
          </a:prstGeom>
        </p:spPr>
      </p:pic>
      <p:sp>
        <p:nvSpPr>
          <p:cNvPr id="4" name="TextBox 3">
            <a:extLst>
              <a:ext uri="{FF2B5EF4-FFF2-40B4-BE49-F238E27FC236}">
                <a16:creationId xmlns:a16="http://schemas.microsoft.com/office/drawing/2014/main" id="{28196358-7068-7748-D2DC-33CE47095820}"/>
              </a:ext>
            </a:extLst>
          </p:cNvPr>
          <p:cNvSpPr txBox="1"/>
          <p:nvPr/>
        </p:nvSpPr>
        <p:spPr>
          <a:xfrm>
            <a:off x="222868" y="1397077"/>
            <a:ext cx="6096000" cy="523220"/>
          </a:xfrm>
          <a:prstGeom prst="rect">
            <a:avLst/>
          </a:prstGeom>
          <a:noFill/>
        </p:spPr>
        <p:txBody>
          <a:bodyPr wrap="square" lIns="91440" tIns="45720" rIns="91440" bIns="45720" anchor="t">
            <a:spAutoFit/>
          </a:bodyPr>
          <a:lstStyle/>
          <a:p>
            <a:pPr marL="457200" indent="-457200" algn="l">
              <a:buFont typeface="Wingdings"/>
              <a:buChar char="Ø"/>
            </a:pPr>
            <a:r>
              <a:rPr lang="en-IN" sz="2800" b="1">
                <a:solidFill>
                  <a:srgbClr val="FF0000"/>
                </a:solidFill>
                <a:latin typeface="Times New Roman"/>
                <a:cs typeface="Times New Roman"/>
              </a:rPr>
              <a:t>Specification </a:t>
            </a:r>
            <a:endParaRPr lang="en-US" sz="1800" b="1">
              <a:solidFill>
                <a:srgbClr val="FF0000"/>
              </a:solidFill>
              <a:latin typeface="Times New Roman"/>
              <a:cs typeface="Times New Roman"/>
            </a:endParaRPr>
          </a:p>
        </p:txBody>
      </p:sp>
      <p:sp>
        <p:nvSpPr>
          <p:cNvPr id="16" name="Content Placeholder 15">
            <a:extLst>
              <a:ext uri="{FF2B5EF4-FFF2-40B4-BE49-F238E27FC236}">
                <a16:creationId xmlns:a16="http://schemas.microsoft.com/office/drawing/2014/main" id="{9C8F883E-D54F-88C1-19ED-55CAEE05AD70}"/>
              </a:ext>
            </a:extLst>
          </p:cNvPr>
          <p:cNvSpPr>
            <a:spLocks noGrp="1"/>
          </p:cNvSpPr>
          <p:nvPr>
            <p:ph sz="half" idx="4294967295"/>
          </p:nvPr>
        </p:nvSpPr>
        <p:spPr>
          <a:xfrm>
            <a:off x="220579" y="2018715"/>
            <a:ext cx="9398000" cy="4262437"/>
          </a:xfrm>
        </p:spPr>
        <p:txBody>
          <a:bodyPr>
            <a:normAutofit fontScale="25000" lnSpcReduction="20000"/>
          </a:bodyPr>
          <a:lstStyle/>
          <a:p>
            <a:pPr marL="0" indent="0">
              <a:buNone/>
            </a:pPr>
            <a:r>
              <a:rPr lang="en-IN" sz="9600" b="1" dirty="0">
                <a:latin typeface="Times New Roman" panose="02020603050405020304" pitchFamily="18" charset="0"/>
                <a:cs typeface="Times New Roman" panose="02020603050405020304" pitchFamily="18" charset="0"/>
              </a:rPr>
              <a:t> INPUT:</a:t>
            </a:r>
          </a:p>
          <a:p>
            <a:pPr>
              <a:buFont typeface="Arial" panose="020B0604020202020204" pitchFamily="34" charset="0"/>
              <a:buChar char="•"/>
            </a:pPr>
            <a:r>
              <a:rPr lang="en-IN" sz="9600" dirty="0">
                <a:latin typeface="Times New Roman" panose="02020603050405020304" pitchFamily="18" charset="0"/>
                <a:cs typeface="Times New Roman" panose="02020603050405020304" pitchFamily="18" charset="0"/>
              </a:rPr>
              <a:t>Signal Source: Raw ECG data having noise </a:t>
            </a:r>
          </a:p>
          <a:p>
            <a:pPr>
              <a:buFont typeface="Arial" panose="020B0604020202020204" pitchFamily="34" charset="0"/>
              <a:buChar char="•"/>
            </a:pPr>
            <a:r>
              <a:rPr lang="en-IN" sz="9600" dirty="0">
                <a:latin typeface="Times New Roman" panose="02020603050405020304" pitchFamily="18" charset="0"/>
                <a:cs typeface="Times New Roman" panose="02020603050405020304" pitchFamily="18" charset="0"/>
              </a:rPr>
              <a:t>Noise Types:</a:t>
            </a:r>
          </a:p>
          <a:p>
            <a:pPr marL="0" indent="0">
              <a:buNone/>
            </a:pPr>
            <a:r>
              <a:rPr lang="en-IN" sz="9600" dirty="0">
                <a:latin typeface="Times New Roman" panose="02020603050405020304" pitchFamily="18" charset="0"/>
                <a:cs typeface="Times New Roman" panose="02020603050405020304" pitchFamily="18" charset="0"/>
              </a:rPr>
              <a:t>   Powerline interference (50/60 Hz).</a:t>
            </a:r>
          </a:p>
          <a:p>
            <a:pPr marL="0" indent="0">
              <a:buNone/>
            </a:pPr>
            <a:r>
              <a:rPr lang="en-IN" sz="9600" dirty="0">
                <a:latin typeface="Times New Roman" panose="02020603050405020304" pitchFamily="18" charset="0"/>
                <a:cs typeface="Times New Roman" panose="02020603050405020304" pitchFamily="18" charset="0"/>
              </a:rPr>
              <a:t>   Baseline wander (low-frequency drift due to movement or respiration).</a:t>
            </a:r>
          </a:p>
          <a:p>
            <a:pPr marL="0" indent="0">
              <a:buNone/>
            </a:pPr>
            <a:r>
              <a:rPr lang="en-IN" sz="9600" dirty="0">
                <a:latin typeface="Times New Roman" panose="02020603050405020304" pitchFamily="18" charset="0"/>
                <a:cs typeface="Times New Roman" panose="02020603050405020304" pitchFamily="18" charset="0"/>
              </a:rPr>
              <a:t>   EMG noise (high-frequency artifacts from muscle activity).</a:t>
            </a:r>
          </a:p>
          <a:p>
            <a:pPr marL="0" indent="0">
              <a:buNone/>
            </a:pPr>
            <a:r>
              <a:rPr lang="en-IN" sz="9600" dirty="0">
                <a:latin typeface="Times New Roman" panose="02020603050405020304" pitchFamily="18" charset="0"/>
                <a:cs typeface="Times New Roman" panose="02020603050405020304" pitchFamily="18" charset="0"/>
              </a:rPr>
              <a:t>   Motion artifacts (signal distortion due to electrode displacement).</a:t>
            </a:r>
          </a:p>
          <a:p>
            <a:r>
              <a:rPr lang="en-IN" sz="9600" dirty="0">
                <a:latin typeface="Times New Roman" panose="02020603050405020304" pitchFamily="18" charset="0"/>
                <a:cs typeface="Times New Roman" panose="02020603050405020304" pitchFamily="18" charset="0"/>
              </a:rPr>
              <a:t>Sampling Rate: Typically 250 Hz, 500 Hz, or 1 kHz, depending on the system.</a:t>
            </a:r>
          </a:p>
          <a:p>
            <a:r>
              <a:rPr lang="en-IN" sz="9600" dirty="0">
                <a:latin typeface="Times New Roman" panose="02020603050405020304" pitchFamily="18" charset="0"/>
                <a:cs typeface="Times New Roman" panose="02020603050405020304" pitchFamily="18" charset="0"/>
              </a:rPr>
              <a:t> Signal Range: Amplitude typically in millivolts (mV)</a:t>
            </a:r>
          </a:p>
          <a:p>
            <a:pPr>
              <a:buFont typeface="Arial" panose="020B0604020202020204" pitchFamily="34" charset="0"/>
              <a:buChar char="•"/>
            </a:pPr>
            <a:endParaRPr lang="en-IN" sz="9600" dirty="0">
              <a:latin typeface="Times New Roman" panose="02020603050405020304" pitchFamily="18" charset="0"/>
              <a:cs typeface="Times New Roman" panose="02020603050405020304" pitchFamily="18" charset="0"/>
            </a:endParaRPr>
          </a:p>
        </p:txBody>
      </p:sp>
      <p:sp>
        <p:nvSpPr>
          <p:cNvPr id="18" name="Rectangle 1">
            <a:extLst>
              <a:ext uri="{FF2B5EF4-FFF2-40B4-BE49-F238E27FC236}">
                <a16:creationId xmlns:a16="http://schemas.microsoft.com/office/drawing/2014/main" id="{34D264C1-CFE7-1F14-E73F-301711D6B375}"/>
              </a:ext>
            </a:extLst>
          </p:cNvPr>
          <p:cNvSpPr>
            <a:spLocks noChangeArrowheads="1"/>
          </p:cNvSpPr>
          <p:nvPr/>
        </p:nvSpPr>
        <p:spPr bwMode="auto">
          <a:xfrm>
            <a:off x="653143" y="1271772"/>
            <a:ext cx="78559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Slide Number Placeholder 2">
            <a:extLst>
              <a:ext uri="{FF2B5EF4-FFF2-40B4-BE49-F238E27FC236}">
                <a16:creationId xmlns:a16="http://schemas.microsoft.com/office/drawing/2014/main" id="{97C3C6E3-D952-113B-B07F-0620146A7F77}"/>
              </a:ext>
            </a:extLst>
          </p:cNvPr>
          <p:cNvSpPr>
            <a:spLocks noGrp="1"/>
          </p:cNvSpPr>
          <p:nvPr>
            <p:ph type="sldNum" sz="quarter" idx="12"/>
          </p:nvPr>
        </p:nvSpPr>
        <p:spPr/>
        <p:txBody>
          <a:bodyPr/>
          <a:lstStyle/>
          <a:p>
            <a:fld id="{CC057153-B650-4DEB-B370-79DDCFDCE934}" type="slidenum">
              <a:rPr lang="en-US" dirty="0"/>
              <a:t>20</a:t>
            </a:fld>
            <a:endParaRPr lang="en-US"/>
          </a:p>
        </p:txBody>
      </p:sp>
    </p:spTree>
    <p:extLst>
      <p:ext uri="{BB962C8B-B14F-4D97-AF65-F5344CB8AC3E}">
        <p14:creationId xmlns:p14="http://schemas.microsoft.com/office/powerpoint/2010/main" val="3988932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F7F51-8000-3D74-B334-A9E38E71534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0FCE128-5654-C944-5E55-83FD7A7A4A32}"/>
              </a:ext>
            </a:extLst>
          </p:cNvPr>
          <p:cNvPicPr>
            <a:picLocks noChangeAspect="1"/>
          </p:cNvPicPr>
          <p:nvPr/>
        </p:nvPicPr>
        <p:blipFill>
          <a:blip r:embed="rId3"/>
          <a:stretch>
            <a:fillRect/>
          </a:stretch>
        </p:blipFill>
        <p:spPr>
          <a:xfrm>
            <a:off x="944762" y="343303"/>
            <a:ext cx="9753600" cy="1066800"/>
          </a:xfrm>
          <a:prstGeom prst="rect">
            <a:avLst/>
          </a:prstGeom>
        </p:spPr>
      </p:pic>
      <p:sp>
        <p:nvSpPr>
          <p:cNvPr id="4" name="TextBox 3">
            <a:extLst>
              <a:ext uri="{FF2B5EF4-FFF2-40B4-BE49-F238E27FC236}">
                <a16:creationId xmlns:a16="http://schemas.microsoft.com/office/drawing/2014/main" id="{C9260C39-50EF-CAD3-8656-9F5B1EAC50AF}"/>
              </a:ext>
            </a:extLst>
          </p:cNvPr>
          <p:cNvSpPr txBox="1"/>
          <p:nvPr/>
        </p:nvSpPr>
        <p:spPr>
          <a:xfrm>
            <a:off x="944762" y="1410103"/>
            <a:ext cx="6096000" cy="523220"/>
          </a:xfrm>
          <a:prstGeom prst="rect">
            <a:avLst/>
          </a:prstGeom>
          <a:noFill/>
        </p:spPr>
        <p:txBody>
          <a:bodyPr wrap="square">
            <a:spAutoFit/>
          </a:bodyPr>
          <a:lstStyle/>
          <a:p>
            <a:pPr algn="l"/>
            <a:r>
              <a:rPr lang="en-IN" sz="2800" b="1" dirty="0">
                <a:solidFill>
                  <a:srgbClr val="FF0000"/>
                </a:solidFill>
                <a:latin typeface="Times New Roman" panose="02020603050405020304" pitchFamily="18" charset="0"/>
                <a:cs typeface="Times New Roman" panose="02020603050405020304" pitchFamily="18" charset="0"/>
              </a:rPr>
              <a:t>Specification</a:t>
            </a:r>
            <a:endParaRPr lang="en-US" sz="1800" b="1" dirty="0">
              <a:solidFill>
                <a:srgbClr val="FF0000"/>
              </a:solidFill>
            </a:endParaRPr>
          </a:p>
        </p:txBody>
      </p:sp>
      <p:sp>
        <p:nvSpPr>
          <p:cNvPr id="16" name="Content Placeholder 15">
            <a:extLst>
              <a:ext uri="{FF2B5EF4-FFF2-40B4-BE49-F238E27FC236}">
                <a16:creationId xmlns:a16="http://schemas.microsoft.com/office/drawing/2014/main" id="{CBD8A2EB-A4C1-1BBB-204E-679C34FF1025}"/>
              </a:ext>
            </a:extLst>
          </p:cNvPr>
          <p:cNvSpPr>
            <a:spLocks noGrp="1"/>
          </p:cNvSpPr>
          <p:nvPr>
            <p:ph sz="half" idx="4294967295"/>
          </p:nvPr>
        </p:nvSpPr>
        <p:spPr>
          <a:xfrm>
            <a:off x="0" y="2143125"/>
            <a:ext cx="10342563" cy="4046538"/>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             OUTPUT</a:t>
            </a:r>
            <a:r>
              <a:rPr lang="en-IN" b="1" dirty="0">
                <a:latin typeface="Times New Roman" panose="02020603050405020304" pitchFamily="18" charset="0"/>
                <a:cs typeface="Times New Roman" panose="02020603050405020304" pitchFamily="18" charset="0"/>
              </a:rPr>
              <a:t>:</a:t>
            </a:r>
          </a:p>
          <a:p>
            <a:endParaRPr lang="en-IN" dirty="0"/>
          </a:p>
        </p:txBody>
      </p:sp>
      <p:sp>
        <p:nvSpPr>
          <p:cNvPr id="18" name="Rectangle 1">
            <a:extLst>
              <a:ext uri="{FF2B5EF4-FFF2-40B4-BE49-F238E27FC236}">
                <a16:creationId xmlns:a16="http://schemas.microsoft.com/office/drawing/2014/main" id="{6864A310-B65D-6D5A-22E5-D5065A4DD6E4}"/>
              </a:ext>
            </a:extLst>
          </p:cNvPr>
          <p:cNvSpPr>
            <a:spLocks noChangeArrowheads="1"/>
          </p:cNvSpPr>
          <p:nvPr/>
        </p:nvSpPr>
        <p:spPr bwMode="auto">
          <a:xfrm>
            <a:off x="653143" y="1271772"/>
            <a:ext cx="78559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73CD933E-1021-01DB-877B-BE38C711622C}"/>
              </a:ext>
            </a:extLst>
          </p:cNvPr>
          <p:cNvSpPr txBox="1"/>
          <p:nvPr/>
        </p:nvSpPr>
        <p:spPr>
          <a:xfrm>
            <a:off x="944762" y="2621165"/>
            <a:ext cx="10343535" cy="369331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ECG Signal:</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Retains critical diagnostic features: P-wave, QRS complex, and T-wave.</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Free from significant noise artifacts.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Metrics:</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Signal-to-Noise Ratio (SNR).</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Preservation of signal morphology for diagnostic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Suitability for Analysis:</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Usable for automated heart rate variability (HRV) analysis.</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Reliable for arrhythmia and other cardiac condition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diagnostics</a:t>
            </a:r>
            <a:r>
              <a:rPr kumimoji="0" lang="en-US" altLang="en-US" sz="2400" b="0" i="0" u="none" strike="noStrike" cap="none" normalizeH="0" baseline="0" dirty="0">
                <a:ln>
                  <a:noFill/>
                </a:ln>
                <a:solidFill>
                  <a:schemeClr val="tx1"/>
                </a:solidFill>
                <a:effectLst/>
                <a:latin typeface="Arial" panose="020B0604020202020204" pitchFamily="34" charset="0"/>
              </a:rPr>
              <a:t>.</a:t>
            </a:r>
          </a:p>
          <a:p>
            <a:endParaRPr lang="en-IN" dirty="0"/>
          </a:p>
        </p:txBody>
      </p:sp>
      <p:sp>
        <p:nvSpPr>
          <p:cNvPr id="3" name="Slide Number Placeholder 2">
            <a:extLst>
              <a:ext uri="{FF2B5EF4-FFF2-40B4-BE49-F238E27FC236}">
                <a16:creationId xmlns:a16="http://schemas.microsoft.com/office/drawing/2014/main" id="{62BD9BAF-1F07-A4AE-161D-784D7869DF38}"/>
              </a:ext>
            </a:extLst>
          </p:cNvPr>
          <p:cNvSpPr>
            <a:spLocks noGrp="1"/>
          </p:cNvSpPr>
          <p:nvPr>
            <p:ph type="sldNum" sz="quarter" idx="12"/>
          </p:nvPr>
        </p:nvSpPr>
        <p:spPr/>
        <p:txBody>
          <a:bodyPr/>
          <a:lstStyle/>
          <a:p>
            <a:fld id="{CC057153-B650-4DEB-B370-79DDCFDCE934}" type="slidenum">
              <a:rPr lang="en-US" dirty="0"/>
              <a:t>21</a:t>
            </a:fld>
            <a:endParaRPr lang="en-US"/>
          </a:p>
        </p:txBody>
      </p:sp>
    </p:spTree>
    <p:extLst>
      <p:ext uri="{BB962C8B-B14F-4D97-AF65-F5344CB8AC3E}">
        <p14:creationId xmlns:p14="http://schemas.microsoft.com/office/powerpoint/2010/main" val="1032243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4292A2D-BC84-1B49-2B32-98D58BBC2B90}"/>
              </a:ext>
            </a:extLst>
          </p:cNvPr>
          <p:cNvSpPr txBox="1"/>
          <p:nvPr/>
        </p:nvSpPr>
        <p:spPr>
          <a:xfrm>
            <a:off x="443446" y="1410103"/>
            <a:ext cx="3352393" cy="523220"/>
          </a:xfrm>
          <a:prstGeom prst="rect">
            <a:avLst/>
          </a:prstGeom>
          <a:noFill/>
        </p:spPr>
        <p:txBody>
          <a:bodyPr wrap="square" lIns="91440" tIns="45720" rIns="91440" bIns="45720" anchor="t">
            <a:spAutoFit/>
          </a:bodyPr>
          <a:lstStyle/>
          <a:p>
            <a:pPr marL="457200" indent="-457200" algn="l">
              <a:buFont typeface="Wingdings"/>
              <a:buChar char="Ø"/>
            </a:pPr>
            <a:r>
              <a:rPr lang="en-IN" sz="2800" b="1" dirty="0">
                <a:solidFill>
                  <a:srgbClr val="FF0000"/>
                </a:solidFill>
                <a:latin typeface="Times New Roman"/>
                <a:cs typeface="Times New Roman"/>
              </a:rPr>
              <a:t>Identification</a:t>
            </a:r>
            <a:endParaRPr lang="en-US" sz="1800" b="1" dirty="0">
              <a:solidFill>
                <a:srgbClr val="FF0000"/>
              </a:solidFill>
              <a:latin typeface="Times New Roman"/>
              <a:cs typeface="Times New Roman"/>
            </a:endParaRPr>
          </a:p>
        </p:txBody>
      </p:sp>
      <p:sp>
        <p:nvSpPr>
          <p:cNvPr id="8" name="TextBox 7">
            <a:extLst>
              <a:ext uri="{FF2B5EF4-FFF2-40B4-BE49-F238E27FC236}">
                <a16:creationId xmlns:a16="http://schemas.microsoft.com/office/drawing/2014/main" id="{A88F888C-84D0-AAE8-4F72-3831ECF11E52}"/>
              </a:ext>
            </a:extLst>
          </p:cNvPr>
          <p:cNvSpPr txBox="1"/>
          <p:nvPr/>
        </p:nvSpPr>
        <p:spPr>
          <a:xfrm>
            <a:off x="944762" y="2187070"/>
            <a:ext cx="9889019" cy="3170099"/>
          </a:xfrm>
          <a:prstGeom prst="rect">
            <a:avLst/>
          </a:prstGeom>
          <a:noFill/>
        </p:spPr>
        <p:txBody>
          <a:bodyPr wrap="square" lIns="91440" tIns="45720" rIns="91440" bIns="45720" anchor="t">
            <a:spAutoFit/>
          </a:bodyPr>
          <a:lstStyle/>
          <a:p>
            <a:r>
              <a:rPr lang="en-IN" sz="2000" b="1" dirty="0">
                <a:solidFill>
                  <a:srgbClr val="FF0000"/>
                </a:solidFill>
                <a:latin typeface="Times New Roman"/>
                <a:cs typeface="Times New Roman"/>
              </a:rPr>
              <a:t>INPUT:</a:t>
            </a:r>
          </a:p>
          <a:p>
            <a:pPr>
              <a:buFont typeface="Arial" panose="020B0604020202020204" pitchFamily="34" charset="0"/>
              <a:buChar char="•"/>
            </a:pPr>
            <a:r>
              <a:rPr lang="en-IN" sz="2000" dirty="0">
                <a:latin typeface="Times New Roman"/>
                <a:cs typeface="Times New Roman"/>
              </a:rPr>
              <a:t>Noisy ECG Signal: Collected via surface electrodes, contains powerline interference, baseline wander, EMG noise, and motion artifacts.</a:t>
            </a:r>
          </a:p>
          <a:p>
            <a:pPr>
              <a:buFont typeface="Arial" panose="020B0604020202020204" pitchFamily="34" charset="0"/>
              <a:buChar char="•"/>
            </a:pPr>
            <a:r>
              <a:rPr lang="en-IN" sz="2000" dirty="0">
                <a:latin typeface="Times New Roman"/>
                <a:cs typeface="Times New Roman"/>
              </a:rPr>
              <a:t>Amplitude Range: Millivolts (mV).</a:t>
            </a:r>
          </a:p>
          <a:p>
            <a:pPr>
              <a:buFont typeface="Arial" panose="020B0604020202020204" pitchFamily="34" charset="0"/>
              <a:buChar char="•"/>
            </a:pPr>
            <a:r>
              <a:rPr lang="en-IN" sz="2000" dirty="0">
                <a:latin typeface="Times New Roman"/>
                <a:cs typeface="Times New Roman"/>
              </a:rPr>
              <a:t>Sampling Rate: 250 Hz, 500 Hz, or 1 kHz.</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solidFill>
                <a:srgbClr val="000000"/>
              </a:solidFill>
              <a:latin typeface="Times New Roman"/>
              <a:cs typeface="Times New Roman"/>
            </a:endParaRPr>
          </a:p>
          <a:p>
            <a:r>
              <a:rPr lang="en-IN" sz="2000" b="1" dirty="0">
                <a:solidFill>
                  <a:srgbClr val="FF0000"/>
                </a:solidFill>
                <a:latin typeface="Times New Roman"/>
                <a:cs typeface="Times New Roman"/>
              </a:rPr>
              <a:t>OUTPUT:</a:t>
            </a:r>
          </a:p>
          <a:p>
            <a:pPr>
              <a:buFont typeface="Arial" panose="020B0604020202020204" pitchFamily="34" charset="0"/>
              <a:buChar char="•"/>
            </a:pPr>
            <a:r>
              <a:rPr lang="en-IN" sz="2000" dirty="0">
                <a:latin typeface="Times New Roman"/>
                <a:cs typeface="Times New Roman"/>
              </a:rPr>
              <a:t>Denoised ECG Signal: Preserved P-wave, QRS complex, T-wave; significantly reduced noise.</a:t>
            </a:r>
          </a:p>
          <a:p>
            <a:pPr>
              <a:buFont typeface="Arial" panose="020B0604020202020204" pitchFamily="34" charset="0"/>
              <a:buChar char="•"/>
            </a:pPr>
            <a:r>
              <a:rPr lang="en-IN" sz="2000" dirty="0">
                <a:latin typeface="Times New Roman"/>
                <a:cs typeface="Times New Roman"/>
              </a:rPr>
              <a:t>Metrics: Improved SNR, suitable for arrhythmia detection and HRV analysis.</a:t>
            </a:r>
          </a:p>
        </p:txBody>
      </p:sp>
      <p:pic>
        <p:nvPicPr>
          <p:cNvPr id="9" name="Picture 8">
            <a:extLst>
              <a:ext uri="{FF2B5EF4-FFF2-40B4-BE49-F238E27FC236}">
                <a16:creationId xmlns:a16="http://schemas.microsoft.com/office/drawing/2014/main" id="{9212A271-8B3A-DD35-F4C8-0C6579142078}"/>
              </a:ext>
            </a:extLst>
          </p:cNvPr>
          <p:cNvPicPr>
            <a:picLocks noChangeAspect="1"/>
          </p:cNvPicPr>
          <p:nvPr/>
        </p:nvPicPr>
        <p:blipFill>
          <a:blip r:embed="rId2"/>
          <a:stretch>
            <a:fillRect/>
          </a:stretch>
        </p:blipFill>
        <p:spPr>
          <a:xfrm>
            <a:off x="944762" y="343303"/>
            <a:ext cx="9753600" cy="1066800"/>
          </a:xfrm>
          <a:prstGeom prst="rect">
            <a:avLst/>
          </a:prstGeom>
        </p:spPr>
      </p:pic>
      <p:sp>
        <p:nvSpPr>
          <p:cNvPr id="2" name="Slide Number Placeholder 1">
            <a:extLst>
              <a:ext uri="{FF2B5EF4-FFF2-40B4-BE49-F238E27FC236}">
                <a16:creationId xmlns:a16="http://schemas.microsoft.com/office/drawing/2014/main" id="{3AD4DE81-294A-894B-DEB0-7FDF8A175213}"/>
              </a:ext>
            </a:extLst>
          </p:cNvPr>
          <p:cNvSpPr>
            <a:spLocks noGrp="1"/>
          </p:cNvSpPr>
          <p:nvPr>
            <p:ph type="sldNum" sz="quarter" idx="12"/>
          </p:nvPr>
        </p:nvSpPr>
        <p:spPr/>
        <p:txBody>
          <a:bodyPr/>
          <a:lstStyle/>
          <a:p>
            <a:fld id="{CC057153-B650-4DEB-B370-79DDCFDCE934}" type="slidenum">
              <a:rPr lang="en-US" dirty="0"/>
              <a:t>22</a:t>
            </a:fld>
            <a:endParaRPr lang="en-US"/>
          </a:p>
        </p:txBody>
      </p:sp>
    </p:spTree>
    <p:extLst>
      <p:ext uri="{BB962C8B-B14F-4D97-AF65-F5344CB8AC3E}">
        <p14:creationId xmlns:p14="http://schemas.microsoft.com/office/powerpoint/2010/main" val="1202530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77D66-557C-3A37-5593-9932267C1DEA}"/>
              </a:ext>
            </a:extLst>
          </p:cNvPr>
          <p:cNvSpPr txBox="1"/>
          <p:nvPr/>
        </p:nvSpPr>
        <p:spPr>
          <a:xfrm>
            <a:off x="919307" y="406275"/>
            <a:ext cx="331804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Wingdings"/>
              <a:buChar char="Ø"/>
            </a:pPr>
            <a:r>
              <a:rPr lang="en-US" sz="2800" b="1" u="sng">
                <a:solidFill>
                  <a:srgbClr val="FF0000"/>
                </a:solidFill>
                <a:latin typeface="Times New Roman"/>
                <a:cs typeface="Times New Roman"/>
              </a:rPr>
              <a:t>Block diagram:</a:t>
            </a:r>
            <a:endParaRPr lang="en-US" b="1"/>
          </a:p>
        </p:txBody>
      </p:sp>
      <p:sp>
        <p:nvSpPr>
          <p:cNvPr id="11" name="Oval 10">
            <a:extLst>
              <a:ext uri="{FF2B5EF4-FFF2-40B4-BE49-F238E27FC236}">
                <a16:creationId xmlns:a16="http://schemas.microsoft.com/office/drawing/2014/main" id="{A550D858-091F-C293-BE2C-61E60677C7AB}"/>
              </a:ext>
            </a:extLst>
          </p:cNvPr>
          <p:cNvSpPr/>
          <p:nvPr/>
        </p:nvSpPr>
        <p:spPr>
          <a:xfrm>
            <a:off x="9403408" y="293003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solidFill>
                  <a:srgbClr val="111111"/>
                </a:solidFill>
                <a:ea typeface="+mn-lt"/>
                <a:cs typeface="+mn-lt"/>
              </a:rPr>
              <a:t>∑</a:t>
            </a:r>
            <a:endParaRPr lang="en-US"/>
          </a:p>
        </p:txBody>
      </p:sp>
      <p:sp>
        <p:nvSpPr>
          <p:cNvPr id="12" name="Rectangle: Rounded Corners 11">
            <a:extLst>
              <a:ext uri="{FF2B5EF4-FFF2-40B4-BE49-F238E27FC236}">
                <a16:creationId xmlns:a16="http://schemas.microsoft.com/office/drawing/2014/main" id="{F1FD7C0A-BB45-ECD7-A387-E3F9D7FDDB56}"/>
              </a:ext>
            </a:extLst>
          </p:cNvPr>
          <p:cNvSpPr/>
          <p:nvPr/>
        </p:nvSpPr>
        <p:spPr>
          <a:xfrm>
            <a:off x="1330947" y="1341159"/>
            <a:ext cx="147587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Noise Less ECG</a:t>
            </a:r>
          </a:p>
          <a:p>
            <a:pPr algn="ctr"/>
            <a:r>
              <a:rPr lang="en-US"/>
              <a:t>D(n)</a:t>
            </a:r>
          </a:p>
        </p:txBody>
      </p:sp>
      <p:sp>
        <p:nvSpPr>
          <p:cNvPr id="13" name="Rectangle: Rounded Corners 12">
            <a:extLst>
              <a:ext uri="{FF2B5EF4-FFF2-40B4-BE49-F238E27FC236}">
                <a16:creationId xmlns:a16="http://schemas.microsoft.com/office/drawing/2014/main" id="{F5B74906-5532-B9A8-1621-4C3A57AD095A}"/>
              </a:ext>
            </a:extLst>
          </p:cNvPr>
          <p:cNvSpPr/>
          <p:nvPr/>
        </p:nvSpPr>
        <p:spPr>
          <a:xfrm>
            <a:off x="1330651" y="2926786"/>
            <a:ext cx="1382295" cy="10079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r>
              <a:rPr lang="en-US"/>
              <a:t>Noisy</a:t>
            </a:r>
          </a:p>
          <a:p>
            <a:pPr algn="ctr"/>
            <a:r>
              <a:rPr lang="en-US"/>
              <a:t>ECG</a:t>
            </a:r>
          </a:p>
          <a:p>
            <a:pPr algn="ctr"/>
            <a:r>
              <a:rPr lang="en-US"/>
              <a:t>X(n)</a:t>
            </a:r>
          </a:p>
          <a:p>
            <a:pPr algn="ctr"/>
            <a:endParaRPr lang="en-US"/>
          </a:p>
        </p:txBody>
      </p:sp>
      <p:sp>
        <p:nvSpPr>
          <p:cNvPr id="14" name="Rectangle: Rounded Corners 13">
            <a:extLst>
              <a:ext uri="{FF2B5EF4-FFF2-40B4-BE49-F238E27FC236}">
                <a16:creationId xmlns:a16="http://schemas.microsoft.com/office/drawing/2014/main" id="{3FEA52DB-9E83-B713-1BC2-DC0241EAD86B}"/>
              </a:ext>
            </a:extLst>
          </p:cNvPr>
          <p:cNvSpPr/>
          <p:nvPr/>
        </p:nvSpPr>
        <p:spPr>
          <a:xfrm>
            <a:off x="5112034" y="2981921"/>
            <a:ext cx="1402347" cy="8876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r>
              <a:rPr lang="en-US"/>
              <a:t>Adaptive Filter</a:t>
            </a:r>
            <a:endParaRPr lang="en-US">
              <a:solidFill>
                <a:srgbClr val="000000"/>
              </a:solidFill>
            </a:endParaRPr>
          </a:p>
          <a:p>
            <a:pPr algn="ctr"/>
            <a:endParaRPr lang="en-US"/>
          </a:p>
        </p:txBody>
      </p:sp>
      <p:sp>
        <p:nvSpPr>
          <p:cNvPr id="15" name="Rectangle: Rounded Corners 14">
            <a:extLst>
              <a:ext uri="{FF2B5EF4-FFF2-40B4-BE49-F238E27FC236}">
                <a16:creationId xmlns:a16="http://schemas.microsoft.com/office/drawing/2014/main" id="{A08120C0-37B2-DE2D-288A-9735C2971CDA}"/>
              </a:ext>
            </a:extLst>
          </p:cNvPr>
          <p:cNvSpPr/>
          <p:nvPr/>
        </p:nvSpPr>
        <p:spPr>
          <a:xfrm>
            <a:off x="6860855" y="4459092"/>
            <a:ext cx="1629610" cy="8943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sz="1800" baseline="0">
                <a:solidFill>
                  <a:srgbClr val="FFFFFF"/>
                </a:solidFill>
                <a:latin typeface="Corbel"/>
                <a:ea typeface="Segoe UI"/>
                <a:cs typeface="Segoe UI"/>
              </a:rPr>
              <a:t>OUTPUT</a:t>
            </a:r>
            <a:r>
              <a:rPr lang="en-US" sz="1800">
                <a:solidFill>
                  <a:srgbClr val="FFFFFF"/>
                </a:solidFill>
                <a:latin typeface="Corbel"/>
                <a:ea typeface="Segoe UI"/>
                <a:cs typeface="Segoe UI"/>
              </a:rPr>
              <a:t>​</a:t>
            </a:r>
          </a:p>
          <a:p>
            <a:pPr algn="ctr" rtl="0"/>
            <a:r>
              <a:rPr lang="en-US" sz="1800" baseline="0">
                <a:solidFill>
                  <a:srgbClr val="FFFFFF"/>
                </a:solidFill>
                <a:latin typeface="Corbel"/>
                <a:ea typeface="Segoe UI"/>
                <a:cs typeface="Segoe UI"/>
              </a:rPr>
              <a:t>Y(n)</a:t>
            </a:r>
            <a:endParaRPr lang="en-US"/>
          </a:p>
        </p:txBody>
      </p:sp>
      <p:sp>
        <p:nvSpPr>
          <p:cNvPr id="16" name="Rectangle: Rounded Corners 15">
            <a:extLst>
              <a:ext uri="{FF2B5EF4-FFF2-40B4-BE49-F238E27FC236}">
                <a16:creationId xmlns:a16="http://schemas.microsoft.com/office/drawing/2014/main" id="{CD2882B1-14B8-4A03-2828-C74773490550}"/>
              </a:ext>
            </a:extLst>
          </p:cNvPr>
          <p:cNvSpPr/>
          <p:nvPr/>
        </p:nvSpPr>
        <p:spPr>
          <a:xfrm>
            <a:off x="6705059" y="5744058"/>
            <a:ext cx="1943767" cy="787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r>
              <a:rPr lang="en-US"/>
              <a:t>Adaptive</a:t>
            </a:r>
          </a:p>
          <a:p>
            <a:pPr algn="ctr"/>
            <a:r>
              <a:rPr lang="en-US"/>
              <a:t>Algorithm</a:t>
            </a:r>
          </a:p>
          <a:p>
            <a:pPr algn="ctr"/>
            <a:endParaRPr lang="en-US"/>
          </a:p>
        </p:txBody>
      </p:sp>
      <p:cxnSp>
        <p:nvCxnSpPr>
          <p:cNvPr id="18" name="Straight Arrow Connector 17">
            <a:extLst>
              <a:ext uri="{FF2B5EF4-FFF2-40B4-BE49-F238E27FC236}">
                <a16:creationId xmlns:a16="http://schemas.microsoft.com/office/drawing/2014/main" id="{19457C95-E6D1-D345-F3B5-496CBC5FFEBA}"/>
              </a:ext>
            </a:extLst>
          </p:cNvPr>
          <p:cNvCxnSpPr/>
          <p:nvPr/>
        </p:nvCxnSpPr>
        <p:spPr>
          <a:xfrm>
            <a:off x="2803262" y="1752450"/>
            <a:ext cx="7043820" cy="12032"/>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id="{EF9B1BF8-3F3E-EADD-3953-1FB80B23040C}"/>
              </a:ext>
            </a:extLst>
          </p:cNvPr>
          <p:cNvCxnSpPr/>
          <p:nvPr/>
        </p:nvCxnSpPr>
        <p:spPr>
          <a:xfrm flipH="1">
            <a:off x="9846821" y="1760808"/>
            <a:ext cx="14704" cy="115503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0" name="Straight Arrow Connector 19">
            <a:extLst>
              <a:ext uri="{FF2B5EF4-FFF2-40B4-BE49-F238E27FC236}">
                <a16:creationId xmlns:a16="http://schemas.microsoft.com/office/drawing/2014/main" id="{297E9BE6-6AE6-4AFD-B707-A7B8DB169E2C}"/>
              </a:ext>
            </a:extLst>
          </p:cNvPr>
          <p:cNvCxnSpPr/>
          <p:nvPr/>
        </p:nvCxnSpPr>
        <p:spPr>
          <a:xfrm flipV="1">
            <a:off x="2708035" y="3396654"/>
            <a:ext cx="2391610" cy="147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5941BE17-AAA8-5478-9F07-D7F1548A144A}"/>
              </a:ext>
            </a:extLst>
          </p:cNvPr>
          <p:cNvCxnSpPr/>
          <p:nvPr/>
        </p:nvCxnSpPr>
        <p:spPr>
          <a:xfrm>
            <a:off x="6503627" y="3366256"/>
            <a:ext cx="2886242" cy="534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99F260CE-82E8-9C46-205F-8AADC87A322E}"/>
              </a:ext>
            </a:extLst>
          </p:cNvPr>
          <p:cNvCxnSpPr>
            <a:cxnSpLocks/>
          </p:cNvCxnSpPr>
          <p:nvPr/>
        </p:nvCxnSpPr>
        <p:spPr>
          <a:xfrm flipH="1">
            <a:off x="7658661" y="3386309"/>
            <a:ext cx="21388" cy="107482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734EB996-9157-A8D3-E549-5159255CAE61}"/>
              </a:ext>
            </a:extLst>
          </p:cNvPr>
          <p:cNvCxnSpPr>
            <a:cxnSpLocks/>
          </p:cNvCxnSpPr>
          <p:nvPr/>
        </p:nvCxnSpPr>
        <p:spPr>
          <a:xfrm flipH="1">
            <a:off x="9867071" y="3865995"/>
            <a:ext cx="8021" cy="2231189"/>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25" name="Straight Arrow Connector 24">
            <a:extLst>
              <a:ext uri="{FF2B5EF4-FFF2-40B4-BE49-F238E27FC236}">
                <a16:creationId xmlns:a16="http://schemas.microsoft.com/office/drawing/2014/main" id="{08A4792C-2127-181A-0F7F-BBEFE9A1221F}"/>
              </a:ext>
            </a:extLst>
          </p:cNvPr>
          <p:cNvCxnSpPr>
            <a:cxnSpLocks/>
          </p:cNvCxnSpPr>
          <p:nvPr/>
        </p:nvCxnSpPr>
        <p:spPr>
          <a:xfrm flipH="1" flipV="1">
            <a:off x="8647924" y="6092079"/>
            <a:ext cx="1217859" cy="801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6" name="Straight Arrow Connector 25">
            <a:extLst>
              <a:ext uri="{FF2B5EF4-FFF2-40B4-BE49-F238E27FC236}">
                <a16:creationId xmlns:a16="http://schemas.microsoft.com/office/drawing/2014/main" id="{769B98B2-347E-F1FF-3397-19DFED082FCF}"/>
              </a:ext>
            </a:extLst>
          </p:cNvPr>
          <p:cNvCxnSpPr>
            <a:cxnSpLocks/>
          </p:cNvCxnSpPr>
          <p:nvPr/>
        </p:nvCxnSpPr>
        <p:spPr>
          <a:xfrm>
            <a:off x="4126671" y="6091838"/>
            <a:ext cx="2725820" cy="18716"/>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BCBE6ADF-5CB9-C818-DC00-FE68259E526F}"/>
              </a:ext>
            </a:extLst>
          </p:cNvPr>
          <p:cNvCxnSpPr>
            <a:cxnSpLocks/>
          </p:cNvCxnSpPr>
          <p:nvPr/>
        </p:nvCxnSpPr>
        <p:spPr>
          <a:xfrm flipH="1">
            <a:off x="4138702" y="3879363"/>
            <a:ext cx="1458493" cy="2204452"/>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5F78A554-D243-D139-38A3-7562A1A3182F}"/>
              </a:ext>
            </a:extLst>
          </p:cNvPr>
          <p:cNvCxnSpPr>
            <a:cxnSpLocks/>
          </p:cNvCxnSpPr>
          <p:nvPr/>
        </p:nvCxnSpPr>
        <p:spPr>
          <a:xfrm flipV="1">
            <a:off x="6122627" y="2409076"/>
            <a:ext cx="399716" cy="62297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9" name="TextBox 28">
            <a:extLst>
              <a:ext uri="{FF2B5EF4-FFF2-40B4-BE49-F238E27FC236}">
                <a16:creationId xmlns:a16="http://schemas.microsoft.com/office/drawing/2014/main" id="{DED9FDEF-BC2F-F5EA-1DDA-42B0C14A825A}"/>
              </a:ext>
            </a:extLst>
          </p:cNvPr>
          <p:cNvSpPr txBox="1"/>
          <p:nvPr/>
        </p:nvSpPr>
        <p:spPr>
          <a:xfrm>
            <a:off x="9253392" y="2519177"/>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t>+</a:t>
            </a:r>
          </a:p>
        </p:txBody>
      </p:sp>
      <p:sp>
        <p:nvSpPr>
          <p:cNvPr id="31" name="TextBox 30">
            <a:extLst>
              <a:ext uri="{FF2B5EF4-FFF2-40B4-BE49-F238E27FC236}">
                <a16:creationId xmlns:a16="http://schemas.microsoft.com/office/drawing/2014/main" id="{443AEC50-A515-7B99-F24F-E014D33C3F7B}"/>
              </a:ext>
            </a:extLst>
          </p:cNvPr>
          <p:cNvSpPr txBox="1"/>
          <p:nvPr/>
        </p:nvSpPr>
        <p:spPr>
          <a:xfrm>
            <a:off x="9066349" y="2868379"/>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t>-</a:t>
            </a:r>
          </a:p>
        </p:txBody>
      </p:sp>
      <p:sp>
        <p:nvSpPr>
          <p:cNvPr id="32" name="TextBox 31">
            <a:extLst>
              <a:ext uri="{FF2B5EF4-FFF2-40B4-BE49-F238E27FC236}">
                <a16:creationId xmlns:a16="http://schemas.microsoft.com/office/drawing/2014/main" id="{00ECD3E7-A760-1EC6-71D9-94EA586389D2}"/>
              </a:ext>
            </a:extLst>
          </p:cNvPr>
          <p:cNvSpPr txBox="1"/>
          <p:nvPr/>
        </p:nvSpPr>
        <p:spPr>
          <a:xfrm>
            <a:off x="8835660" y="616612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E(n)</a:t>
            </a:r>
          </a:p>
        </p:txBody>
      </p:sp>
      <p:sp>
        <p:nvSpPr>
          <p:cNvPr id="2" name="TextBox 1">
            <a:extLst>
              <a:ext uri="{FF2B5EF4-FFF2-40B4-BE49-F238E27FC236}">
                <a16:creationId xmlns:a16="http://schemas.microsoft.com/office/drawing/2014/main" id="{524D6ADA-C7D0-C2CF-464A-A3735AFE55F9}"/>
              </a:ext>
            </a:extLst>
          </p:cNvPr>
          <p:cNvSpPr txBox="1"/>
          <p:nvPr/>
        </p:nvSpPr>
        <p:spPr>
          <a:xfrm>
            <a:off x="1514462" y="4039845"/>
            <a:ext cx="235290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Input  signal</a:t>
            </a:r>
          </a:p>
        </p:txBody>
      </p:sp>
      <p:sp>
        <p:nvSpPr>
          <p:cNvPr id="4" name="TextBox 3">
            <a:extLst>
              <a:ext uri="{FF2B5EF4-FFF2-40B4-BE49-F238E27FC236}">
                <a16:creationId xmlns:a16="http://schemas.microsoft.com/office/drawing/2014/main" id="{91CF0925-16E3-FA9D-101D-E57FDAF217CE}"/>
              </a:ext>
            </a:extLst>
          </p:cNvPr>
          <p:cNvSpPr txBox="1"/>
          <p:nvPr/>
        </p:nvSpPr>
        <p:spPr>
          <a:xfrm>
            <a:off x="1382695" y="2375376"/>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Reference  Signal</a:t>
            </a:r>
          </a:p>
        </p:txBody>
      </p:sp>
      <p:sp>
        <p:nvSpPr>
          <p:cNvPr id="5" name="Slide Number Placeholder 4">
            <a:extLst>
              <a:ext uri="{FF2B5EF4-FFF2-40B4-BE49-F238E27FC236}">
                <a16:creationId xmlns:a16="http://schemas.microsoft.com/office/drawing/2014/main" id="{D4BB4205-789C-982C-B146-5D18B16DB720}"/>
              </a:ext>
            </a:extLst>
          </p:cNvPr>
          <p:cNvSpPr>
            <a:spLocks noGrp="1"/>
          </p:cNvSpPr>
          <p:nvPr>
            <p:ph type="sldNum" sz="quarter" idx="12"/>
          </p:nvPr>
        </p:nvSpPr>
        <p:spPr/>
        <p:txBody>
          <a:bodyPr/>
          <a:lstStyle/>
          <a:p>
            <a:fld id="{CC057153-B650-4DEB-B370-79DDCFDCE934}" type="slidenum">
              <a:rPr lang="en-US" dirty="0"/>
              <a:t>23</a:t>
            </a:fld>
            <a:endParaRPr lang="en-US"/>
          </a:p>
        </p:txBody>
      </p:sp>
    </p:spTree>
    <p:extLst>
      <p:ext uri="{BB962C8B-B14F-4D97-AF65-F5344CB8AC3E}">
        <p14:creationId xmlns:p14="http://schemas.microsoft.com/office/powerpoint/2010/main" val="446949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omputer component&#10;&#10;Description automatically generated">
            <a:extLst>
              <a:ext uri="{FF2B5EF4-FFF2-40B4-BE49-F238E27FC236}">
                <a16:creationId xmlns:a16="http://schemas.microsoft.com/office/drawing/2014/main" id="{904A5F17-5222-AB5B-25CB-361D39B366F3}"/>
              </a:ext>
            </a:extLst>
          </p:cNvPr>
          <p:cNvPicPr>
            <a:picLocks noChangeAspect="1"/>
          </p:cNvPicPr>
          <p:nvPr/>
        </p:nvPicPr>
        <p:blipFill>
          <a:blip r:embed="rId2"/>
          <a:srcRect l="-121" t="-645" r="-77" b="645"/>
          <a:stretch/>
        </p:blipFill>
        <p:spPr>
          <a:xfrm>
            <a:off x="712546" y="2960454"/>
            <a:ext cx="5216481" cy="3190710"/>
          </a:xfrm>
          <a:prstGeom prst="rect">
            <a:avLst/>
          </a:prstGeom>
        </p:spPr>
      </p:pic>
      <p:sp>
        <p:nvSpPr>
          <p:cNvPr id="3" name="TextBox 2">
            <a:extLst>
              <a:ext uri="{FF2B5EF4-FFF2-40B4-BE49-F238E27FC236}">
                <a16:creationId xmlns:a16="http://schemas.microsoft.com/office/drawing/2014/main" id="{F5850176-5F60-1BBB-14F2-40BEB5B1D7FD}"/>
              </a:ext>
            </a:extLst>
          </p:cNvPr>
          <p:cNvSpPr txBox="1"/>
          <p:nvPr/>
        </p:nvSpPr>
        <p:spPr>
          <a:xfrm>
            <a:off x="605573" y="2042746"/>
            <a:ext cx="53299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solidFill>
                  <a:srgbClr val="FF0000"/>
                </a:solidFill>
                <a:latin typeface="Times New Roman"/>
                <a:ea typeface="+mn-lt"/>
                <a:cs typeface="+mn-lt"/>
              </a:rPr>
              <a:t>Block Diagram of Adaptive noise cancellation using </a:t>
            </a:r>
            <a:endParaRPr lang="en-US">
              <a:solidFill>
                <a:srgbClr val="FF0000"/>
              </a:solidFill>
              <a:latin typeface="Times New Roman"/>
              <a:cs typeface="Times New Roman"/>
            </a:endParaRPr>
          </a:p>
          <a:p>
            <a:r>
              <a:rPr lang="en-US">
                <a:solidFill>
                  <a:srgbClr val="FF0000"/>
                </a:solidFill>
                <a:latin typeface="Times New Roman"/>
                <a:ea typeface="+mn-lt"/>
                <a:cs typeface="+mn-lt"/>
              </a:rPr>
              <a:t>     reference input (noise)</a:t>
            </a:r>
            <a:endParaRPr lang="en-US">
              <a:solidFill>
                <a:srgbClr val="FF0000"/>
              </a:solidFill>
              <a:latin typeface="Times New Roman"/>
              <a:cs typeface="Times New Roman"/>
            </a:endParaRPr>
          </a:p>
        </p:txBody>
      </p:sp>
      <p:pic>
        <p:nvPicPr>
          <p:cNvPr id="4" name="Picture 3">
            <a:extLst>
              <a:ext uri="{FF2B5EF4-FFF2-40B4-BE49-F238E27FC236}">
                <a16:creationId xmlns:a16="http://schemas.microsoft.com/office/drawing/2014/main" id="{3315145D-58C2-7E13-F719-CF06D7C3274B}"/>
              </a:ext>
            </a:extLst>
          </p:cNvPr>
          <p:cNvPicPr>
            <a:picLocks noChangeAspect="1"/>
          </p:cNvPicPr>
          <p:nvPr/>
        </p:nvPicPr>
        <p:blipFill>
          <a:blip r:embed="rId3"/>
          <a:stretch>
            <a:fillRect/>
          </a:stretch>
        </p:blipFill>
        <p:spPr>
          <a:xfrm>
            <a:off x="6198973" y="2958646"/>
            <a:ext cx="5347369" cy="3190755"/>
          </a:xfrm>
          <a:prstGeom prst="rect">
            <a:avLst/>
          </a:prstGeom>
        </p:spPr>
      </p:pic>
      <p:sp>
        <p:nvSpPr>
          <p:cNvPr id="5" name="TextBox 4">
            <a:extLst>
              <a:ext uri="{FF2B5EF4-FFF2-40B4-BE49-F238E27FC236}">
                <a16:creationId xmlns:a16="http://schemas.microsoft.com/office/drawing/2014/main" id="{4F909274-00CC-6D5D-5E54-8D60C7FF1916}"/>
              </a:ext>
            </a:extLst>
          </p:cNvPr>
          <p:cNvSpPr txBox="1"/>
          <p:nvPr/>
        </p:nvSpPr>
        <p:spPr>
          <a:xfrm>
            <a:off x="6433681" y="2042009"/>
            <a:ext cx="48754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solidFill>
                  <a:srgbClr val="FF0000"/>
                </a:solidFill>
                <a:latin typeface="Times New Roman"/>
                <a:ea typeface="+mn-lt"/>
                <a:cs typeface="+mn-lt"/>
              </a:rPr>
              <a:t>Diagram of an interference cancelling problem</a:t>
            </a:r>
            <a:endParaRPr lang="en-US">
              <a:solidFill>
                <a:srgbClr val="FF0000"/>
              </a:solidFill>
              <a:latin typeface="Times New Roman"/>
              <a:cs typeface="Times New Roman"/>
            </a:endParaRPr>
          </a:p>
        </p:txBody>
      </p:sp>
      <p:pic>
        <p:nvPicPr>
          <p:cNvPr id="7" name="Picture 6" descr="A close up of a logo&#10;&#10;Description automatically generated">
            <a:extLst>
              <a:ext uri="{FF2B5EF4-FFF2-40B4-BE49-F238E27FC236}">
                <a16:creationId xmlns:a16="http://schemas.microsoft.com/office/drawing/2014/main" id="{3E2011FB-E58F-7BE0-B954-65870D38D197}"/>
              </a:ext>
            </a:extLst>
          </p:cNvPr>
          <p:cNvPicPr>
            <a:picLocks noChangeAspect="1"/>
          </p:cNvPicPr>
          <p:nvPr/>
        </p:nvPicPr>
        <p:blipFill>
          <a:blip r:embed="rId4"/>
          <a:stretch>
            <a:fillRect/>
          </a:stretch>
        </p:blipFill>
        <p:spPr>
          <a:xfrm>
            <a:off x="1222789" y="425681"/>
            <a:ext cx="9753600" cy="1066800"/>
          </a:xfrm>
          <a:prstGeom prst="rect">
            <a:avLst/>
          </a:prstGeom>
        </p:spPr>
      </p:pic>
      <p:sp>
        <p:nvSpPr>
          <p:cNvPr id="6" name="Slide Number Placeholder 5">
            <a:extLst>
              <a:ext uri="{FF2B5EF4-FFF2-40B4-BE49-F238E27FC236}">
                <a16:creationId xmlns:a16="http://schemas.microsoft.com/office/drawing/2014/main" id="{F82E70E4-80E4-1592-1E3A-8877CA01C4E7}"/>
              </a:ext>
            </a:extLst>
          </p:cNvPr>
          <p:cNvSpPr>
            <a:spLocks noGrp="1"/>
          </p:cNvSpPr>
          <p:nvPr>
            <p:ph type="sldNum" sz="quarter" idx="12"/>
          </p:nvPr>
        </p:nvSpPr>
        <p:spPr/>
        <p:txBody>
          <a:bodyPr/>
          <a:lstStyle/>
          <a:p>
            <a:fld id="{CC057153-B650-4DEB-B370-79DDCFDCE934}" type="slidenum">
              <a:rPr lang="en-US" dirty="0"/>
              <a:t>24</a:t>
            </a:fld>
            <a:endParaRPr lang="en-US"/>
          </a:p>
        </p:txBody>
      </p:sp>
    </p:spTree>
    <p:extLst>
      <p:ext uri="{BB962C8B-B14F-4D97-AF65-F5344CB8AC3E}">
        <p14:creationId xmlns:p14="http://schemas.microsoft.com/office/powerpoint/2010/main" val="1775007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054DD9-1152-47DF-2475-6EC46BC85D5F}"/>
              </a:ext>
            </a:extLst>
          </p:cNvPr>
          <p:cNvSpPr>
            <a:spLocks noGrp="1"/>
          </p:cNvSpPr>
          <p:nvPr>
            <p:ph type="dt" sz="half" idx="10"/>
          </p:nvPr>
        </p:nvSpPr>
        <p:spPr/>
        <p:txBody>
          <a:bodyPr/>
          <a:lstStyle/>
          <a:p>
            <a:fld id="{E08E4C9F-E9AB-45CA-8F30-EDD199307533}" type="datetime1">
              <a:rPr lang="en-US"/>
              <a:t>6/14/2026</a:t>
            </a:fld>
            <a:endParaRPr lang="en-US"/>
          </a:p>
        </p:txBody>
      </p:sp>
      <p:sp>
        <p:nvSpPr>
          <p:cNvPr id="4" name="Slide Number Placeholder 3">
            <a:extLst>
              <a:ext uri="{FF2B5EF4-FFF2-40B4-BE49-F238E27FC236}">
                <a16:creationId xmlns:a16="http://schemas.microsoft.com/office/drawing/2014/main" id="{6158A4D0-691B-33B2-69CA-D5CFC89361CB}"/>
              </a:ext>
            </a:extLst>
          </p:cNvPr>
          <p:cNvSpPr>
            <a:spLocks noGrp="1"/>
          </p:cNvSpPr>
          <p:nvPr>
            <p:ph type="sldNum" sz="quarter" idx="12"/>
          </p:nvPr>
        </p:nvSpPr>
        <p:spPr/>
        <p:txBody>
          <a:bodyPr/>
          <a:lstStyle/>
          <a:p>
            <a:fld id="{CC057153-B650-4DEB-B370-79DDCFDCE934}" type="slidenum">
              <a:rPr lang="en-US" dirty="0"/>
              <a:t>25</a:t>
            </a:fld>
            <a:endParaRPr lang="en-US"/>
          </a:p>
        </p:txBody>
      </p:sp>
      <p:pic>
        <p:nvPicPr>
          <p:cNvPr id="6" name="Picture 5" descr="A close up of a logo&#10;&#10;Description automatically generated">
            <a:extLst>
              <a:ext uri="{FF2B5EF4-FFF2-40B4-BE49-F238E27FC236}">
                <a16:creationId xmlns:a16="http://schemas.microsoft.com/office/drawing/2014/main" id="{03CD2562-EF88-9929-0A8F-095AEAF98ADA}"/>
              </a:ext>
            </a:extLst>
          </p:cNvPr>
          <p:cNvPicPr>
            <a:picLocks noChangeAspect="1"/>
          </p:cNvPicPr>
          <p:nvPr/>
        </p:nvPicPr>
        <p:blipFill>
          <a:blip r:embed="rId2"/>
          <a:stretch>
            <a:fillRect/>
          </a:stretch>
        </p:blipFill>
        <p:spPr>
          <a:xfrm>
            <a:off x="1222789" y="425681"/>
            <a:ext cx="9753600" cy="1066800"/>
          </a:xfrm>
          <a:prstGeom prst="rect">
            <a:avLst/>
          </a:prstGeom>
        </p:spPr>
      </p:pic>
      <p:sp>
        <p:nvSpPr>
          <p:cNvPr id="5" name="TextBox 4">
            <a:extLst>
              <a:ext uri="{FF2B5EF4-FFF2-40B4-BE49-F238E27FC236}">
                <a16:creationId xmlns:a16="http://schemas.microsoft.com/office/drawing/2014/main" id="{EB5C654D-F38B-53E4-7A14-EA53BFD4F9F8}"/>
              </a:ext>
            </a:extLst>
          </p:cNvPr>
          <p:cNvSpPr txBox="1"/>
          <p:nvPr/>
        </p:nvSpPr>
        <p:spPr>
          <a:xfrm>
            <a:off x="1006707" y="2320947"/>
            <a:ext cx="1017884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Times New Roman"/>
                <a:ea typeface="+mn-lt"/>
                <a:cs typeface="+mn-lt"/>
              </a:rPr>
              <a:t>a) Objective:</a:t>
            </a:r>
            <a:endParaRPr lang="en-US">
              <a:solidFill>
                <a:srgbClr val="FF0000"/>
              </a:solidFill>
              <a:latin typeface="Times New Roman"/>
              <a:cs typeface="Times New Roman"/>
            </a:endParaRPr>
          </a:p>
          <a:p>
            <a:r>
              <a:rPr lang="en-US">
                <a:latin typeface="Times New Roman"/>
                <a:ea typeface="+mn-lt"/>
                <a:cs typeface="+mn-lt"/>
              </a:rPr>
              <a:t> To design an adaptive filter using the Normalized Least Mean Squares (NLMS) algorithm to minimize      noise and improve the Signal-to-Noise Ratio (SNR) of a given primary signal using a reference input.</a:t>
            </a:r>
            <a:endParaRPr lang="en-US">
              <a:latin typeface="Times New Roman"/>
              <a:cs typeface="Times New Roman"/>
            </a:endParaRPr>
          </a:p>
          <a:p>
            <a:endParaRPr lang="en-US">
              <a:solidFill>
                <a:srgbClr val="000000"/>
              </a:solidFill>
              <a:latin typeface="Times New Roman"/>
              <a:ea typeface="+mn-lt"/>
              <a:cs typeface="+mn-lt"/>
            </a:endParaRPr>
          </a:p>
          <a:p>
            <a:r>
              <a:rPr lang="en-US">
                <a:solidFill>
                  <a:srgbClr val="FF0000"/>
                </a:solidFill>
                <a:latin typeface="Times New Roman"/>
                <a:ea typeface="+mn-lt"/>
                <a:cs typeface="+mn-lt"/>
              </a:rPr>
              <a:t>b) Input Signals:</a:t>
            </a:r>
            <a:endParaRPr lang="en-US">
              <a:solidFill>
                <a:srgbClr val="FF0000"/>
              </a:solidFill>
              <a:latin typeface="Times New Roman"/>
              <a:cs typeface="Times New Roman"/>
            </a:endParaRPr>
          </a:p>
          <a:p>
            <a:pPr marL="285750" indent="-285750">
              <a:buFont typeface="Arial"/>
              <a:buChar char="•"/>
            </a:pPr>
            <a:r>
              <a:rPr lang="en-US">
                <a:latin typeface="Times New Roman"/>
                <a:ea typeface="+mn-lt"/>
                <a:cs typeface="+mn-lt"/>
              </a:rPr>
              <a:t>Primary Signal:  The desired signal with noise.</a:t>
            </a:r>
            <a:endParaRPr lang="en-US">
              <a:latin typeface="Times New Roman"/>
              <a:cs typeface="Times New Roman"/>
            </a:endParaRPr>
          </a:p>
          <a:p>
            <a:pPr marL="285750" indent="-285750">
              <a:buFont typeface="Arial"/>
              <a:buChar char="•"/>
            </a:pPr>
            <a:r>
              <a:rPr lang="en-US">
                <a:latin typeface="Times New Roman"/>
                <a:ea typeface="+mn-lt"/>
                <a:cs typeface="+mn-lt"/>
              </a:rPr>
              <a:t>Reference Signal:  An input used to model the noise present in the primary signal.</a:t>
            </a:r>
            <a:endParaRPr lang="en-US">
              <a:latin typeface="Times New Roman"/>
              <a:cs typeface="Times New Roman"/>
            </a:endParaRPr>
          </a:p>
          <a:p>
            <a:pPr marL="285750" indent="-285750">
              <a:buFont typeface="Arial"/>
              <a:buChar char="•"/>
            </a:pPr>
            <a:endParaRPr lang="en-US">
              <a:solidFill>
                <a:srgbClr val="000000"/>
              </a:solidFill>
              <a:latin typeface="Times New Roman"/>
              <a:ea typeface="+mn-lt"/>
              <a:cs typeface="+mn-lt"/>
            </a:endParaRPr>
          </a:p>
          <a:p>
            <a:r>
              <a:rPr lang="en-US">
                <a:solidFill>
                  <a:srgbClr val="FF0000"/>
                </a:solidFill>
                <a:latin typeface="Times New Roman"/>
                <a:ea typeface="+mn-lt"/>
                <a:cs typeface="+mn-lt"/>
              </a:rPr>
              <a:t>c) Filter Specifications:</a:t>
            </a:r>
            <a:endParaRPr lang="en-US">
              <a:solidFill>
                <a:srgbClr val="FF0000"/>
              </a:solidFill>
              <a:latin typeface="Times New Roman"/>
              <a:cs typeface="Times New Roman"/>
            </a:endParaRPr>
          </a:p>
          <a:p>
            <a:pPr marL="285750" indent="-285750">
              <a:buFont typeface="Arial"/>
              <a:buChar char="•"/>
            </a:pPr>
            <a:r>
              <a:rPr lang="en-US">
                <a:latin typeface="Times New Roman"/>
                <a:ea typeface="+mn-lt"/>
                <a:cs typeface="+mn-lt"/>
              </a:rPr>
              <a:t>Filter Type:  Adaptive filter.</a:t>
            </a:r>
            <a:endParaRPr lang="en-US">
              <a:latin typeface="Times New Roman"/>
              <a:cs typeface="Times New Roman"/>
            </a:endParaRPr>
          </a:p>
          <a:p>
            <a:pPr marL="285750" indent="-285750">
              <a:buFont typeface="Arial"/>
              <a:buChar char="•"/>
            </a:pPr>
            <a:r>
              <a:rPr lang="en-US">
                <a:latin typeface="Times New Roman"/>
                <a:ea typeface="+mn-lt"/>
                <a:cs typeface="+mn-lt"/>
              </a:rPr>
              <a:t>Algorithm:  Normalized Least Mean Squares (NLMS).</a:t>
            </a:r>
            <a:endParaRPr lang="en-US">
              <a:latin typeface="Times New Roman"/>
              <a:cs typeface="Times New Roman"/>
            </a:endParaRPr>
          </a:p>
          <a:p>
            <a:pPr marL="285750" indent="-285750">
              <a:buFont typeface="Arial"/>
              <a:buChar char="•"/>
            </a:pPr>
            <a:r>
              <a:rPr lang="en-US">
                <a:latin typeface="Times New Roman"/>
                <a:ea typeface="+mn-lt"/>
                <a:cs typeface="+mn-lt"/>
              </a:rPr>
              <a:t>Filter Order:  30 (Number of taps).</a:t>
            </a:r>
            <a:endParaRPr lang="en-US">
              <a:latin typeface="Times New Roman"/>
              <a:cs typeface="Times New Roman"/>
            </a:endParaRPr>
          </a:p>
        </p:txBody>
      </p:sp>
      <p:sp>
        <p:nvSpPr>
          <p:cNvPr id="8" name="TextBox 7">
            <a:extLst>
              <a:ext uri="{FF2B5EF4-FFF2-40B4-BE49-F238E27FC236}">
                <a16:creationId xmlns:a16="http://schemas.microsoft.com/office/drawing/2014/main" id="{5877B09C-13EC-2482-D398-C3809701D64F}"/>
              </a:ext>
            </a:extLst>
          </p:cNvPr>
          <p:cNvSpPr txBox="1"/>
          <p:nvPr/>
        </p:nvSpPr>
        <p:spPr>
          <a:xfrm>
            <a:off x="672438" y="1713080"/>
            <a:ext cx="499123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800" b="1">
                <a:solidFill>
                  <a:srgbClr val="FF0000"/>
                </a:solidFill>
                <a:latin typeface="Times New Roman"/>
                <a:cs typeface="Times New Roman"/>
              </a:rPr>
              <a:t>Design Specifications</a:t>
            </a:r>
            <a:endParaRPr lang="en-US" sz="2800" b="1">
              <a:latin typeface="Times New Roman"/>
              <a:cs typeface="Times New Roman"/>
            </a:endParaRPr>
          </a:p>
        </p:txBody>
      </p:sp>
    </p:spTree>
    <p:extLst>
      <p:ext uri="{BB962C8B-B14F-4D97-AF65-F5344CB8AC3E}">
        <p14:creationId xmlns:p14="http://schemas.microsoft.com/office/powerpoint/2010/main" val="768722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4CFF1C6D-3F9C-7B7B-CB13-7B71DE1FEC57}"/>
              </a:ext>
            </a:extLst>
          </p:cNvPr>
          <p:cNvPicPr>
            <a:picLocks noChangeAspect="1"/>
          </p:cNvPicPr>
          <p:nvPr/>
        </p:nvPicPr>
        <p:blipFill>
          <a:blip r:embed="rId2"/>
          <a:stretch>
            <a:fillRect/>
          </a:stretch>
        </p:blipFill>
        <p:spPr>
          <a:xfrm>
            <a:off x="944762" y="343303"/>
            <a:ext cx="9753600" cy="1066800"/>
          </a:xfrm>
          <a:prstGeom prst="rect">
            <a:avLst/>
          </a:prstGeom>
        </p:spPr>
      </p:pic>
      <p:sp>
        <p:nvSpPr>
          <p:cNvPr id="4" name="TextBox 3">
            <a:extLst>
              <a:ext uri="{FF2B5EF4-FFF2-40B4-BE49-F238E27FC236}">
                <a16:creationId xmlns:a16="http://schemas.microsoft.com/office/drawing/2014/main" id="{B3B4B619-EBCC-7F94-7942-C9A738C0FF3C}"/>
              </a:ext>
            </a:extLst>
          </p:cNvPr>
          <p:cNvSpPr txBox="1"/>
          <p:nvPr/>
        </p:nvSpPr>
        <p:spPr>
          <a:xfrm>
            <a:off x="698534" y="1568044"/>
            <a:ext cx="348061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Wingdings"/>
              <a:buChar char="Ø"/>
            </a:pPr>
            <a:r>
              <a:rPr lang="en-IN" sz="2800" b="1" dirty="0">
                <a:solidFill>
                  <a:srgbClr val="FF0000"/>
                </a:solidFill>
                <a:latin typeface="Times New Roman"/>
                <a:cs typeface="Times New Roman"/>
              </a:rPr>
              <a:t>Implementation</a:t>
            </a:r>
            <a:endParaRPr lang="en-US" dirty="0"/>
          </a:p>
        </p:txBody>
      </p:sp>
      <p:sp>
        <p:nvSpPr>
          <p:cNvPr id="2" name="TextBox 1">
            <a:extLst>
              <a:ext uri="{FF2B5EF4-FFF2-40B4-BE49-F238E27FC236}">
                <a16:creationId xmlns:a16="http://schemas.microsoft.com/office/drawing/2014/main" id="{52652A27-478C-852E-AF38-7DF708B53886}"/>
              </a:ext>
            </a:extLst>
          </p:cNvPr>
          <p:cNvSpPr txBox="1"/>
          <p:nvPr/>
        </p:nvSpPr>
        <p:spPr>
          <a:xfrm>
            <a:off x="839571" y="3036682"/>
            <a:ext cx="1079259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Times New Roman"/>
                <a:ea typeface="+mn-lt"/>
                <a:cs typeface="Times New Roman"/>
              </a:rPr>
              <a:t>1. Load Data:</a:t>
            </a:r>
            <a:endParaRPr lang="en-US" dirty="0">
              <a:solidFill>
                <a:srgbClr val="FF0000"/>
              </a:solidFill>
              <a:latin typeface="Times New Roman"/>
              <a:cs typeface="Times New Roman"/>
            </a:endParaRPr>
          </a:p>
          <a:p>
            <a:r>
              <a:rPr lang="en-US" dirty="0">
                <a:latin typeface="Times New Roman"/>
                <a:ea typeface="+mn-lt"/>
                <a:cs typeface="Times New Roman"/>
              </a:rPr>
              <a:t> Read  the input data from sample_data.mat file</a:t>
            </a:r>
            <a:endParaRPr lang="en-US" dirty="0">
              <a:latin typeface="Times New Roman"/>
              <a:cs typeface="Times New Roman"/>
            </a:endParaRPr>
          </a:p>
          <a:p>
            <a:r>
              <a:rPr lang="en-US" dirty="0">
                <a:latin typeface="Times New Roman"/>
                <a:ea typeface="+mn-lt"/>
                <a:cs typeface="Times New Roman"/>
              </a:rPr>
              <a:t> Extract the primary signal (desired output) and the reference signal (input to the filter).</a:t>
            </a:r>
          </a:p>
          <a:p>
            <a:endParaRPr lang="en-US" dirty="0">
              <a:solidFill>
                <a:srgbClr val="FF0000"/>
              </a:solidFill>
              <a:latin typeface="Times New Roman"/>
              <a:cs typeface="Times New Roman"/>
            </a:endParaRPr>
          </a:p>
          <a:p>
            <a:r>
              <a:rPr lang="en-US" dirty="0">
                <a:solidFill>
                  <a:srgbClr val="FF0000"/>
                </a:solidFill>
                <a:latin typeface="Times New Roman"/>
                <a:ea typeface="+mn-lt"/>
                <a:cs typeface="Times New Roman"/>
              </a:rPr>
              <a:t>2. Initialize Parameters:</a:t>
            </a:r>
            <a:endParaRPr lang="en-US" dirty="0">
              <a:solidFill>
                <a:srgbClr val="FF0000"/>
              </a:solidFill>
              <a:latin typeface="Times New Roman"/>
              <a:cs typeface="Times New Roman"/>
            </a:endParaRPr>
          </a:p>
          <a:p>
            <a:r>
              <a:rPr lang="en-US" dirty="0">
                <a:latin typeface="Times New Roman"/>
                <a:ea typeface="+mn-lt"/>
                <a:cs typeface="Times New Roman"/>
              </a:rPr>
              <a:t> Set the filter order (e.g., 30), step size (Nu = 0.05), and a small constant (Epsilon = 0.0001).</a:t>
            </a:r>
            <a:endParaRPr lang="en-US" dirty="0">
              <a:latin typeface="Times New Roman"/>
              <a:cs typeface="Times New Roman"/>
            </a:endParaRPr>
          </a:p>
          <a:p>
            <a:r>
              <a:rPr lang="en-US" dirty="0">
                <a:latin typeface="Times New Roman"/>
                <a:ea typeface="+mn-lt"/>
                <a:cs typeface="Times New Roman"/>
              </a:rPr>
              <a:t> Initialize the filter weights (W_1 and W_2) to zeros.</a:t>
            </a:r>
            <a:endParaRPr lang="en-US" dirty="0">
              <a:latin typeface="Times New Roman"/>
              <a:cs typeface="Times New Roman"/>
            </a:endParaRPr>
          </a:p>
          <a:p>
            <a:endParaRPr lang="en-US" dirty="0">
              <a:latin typeface="Times New Roman"/>
              <a:cs typeface="Times New Roman"/>
            </a:endParaRPr>
          </a:p>
          <a:p>
            <a:r>
              <a:rPr lang="en-US" dirty="0">
                <a:solidFill>
                  <a:srgbClr val="FF0000"/>
                </a:solidFill>
                <a:latin typeface="Times New Roman"/>
                <a:ea typeface="+mn-lt"/>
                <a:cs typeface="Times New Roman"/>
              </a:rPr>
              <a:t>3. Prepare Filter Input:</a:t>
            </a:r>
            <a:endParaRPr lang="en-US" dirty="0">
              <a:solidFill>
                <a:srgbClr val="FF0000"/>
              </a:solidFill>
              <a:latin typeface="Times New Roman"/>
              <a:cs typeface="Times New Roman"/>
            </a:endParaRPr>
          </a:p>
          <a:p>
            <a:r>
              <a:rPr lang="en-US" dirty="0">
                <a:latin typeface="Times New Roman"/>
                <a:ea typeface="+mn-lt"/>
                <a:cs typeface="Times New Roman"/>
              </a:rPr>
              <a:t> Truncate the primary signal to account for filter delay.</a:t>
            </a:r>
            <a:endParaRPr lang="en-US" dirty="0">
              <a:latin typeface="Times New Roman"/>
              <a:cs typeface="Times New Roman"/>
            </a:endParaRPr>
          </a:p>
          <a:p>
            <a:r>
              <a:rPr lang="en-US" dirty="0">
                <a:latin typeface="Times New Roman"/>
                <a:ea typeface="+mn-lt"/>
                <a:cs typeface="Times New Roman"/>
              </a:rPr>
              <a:t> Create a matrix (reference_wrt_filter) where each row contains the past samples of the                     reference signal, matching the filter order.</a:t>
            </a:r>
            <a:endParaRPr lang="en-US" dirty="0">
              <a:latin typeface="Times New Roman"/>
              <a:cs typeface="Times New Roman"/>
            </a:endParaRPr>
          </a:p>
        </p:txBody>
      </p:sp>
      <p:sp>
        <p:nvSpPr>
          <p:cNvPr id="5" name="Slide Number Placeholder 4">
            <a:extLst>
              <a:ext uri="{FF2B5EF4-FFF2-40B4-BE49-F238E27FC236}">
                <a16:creationId xmlns:a16="http://schemas.microsoft.com/office/drawing/2014/main" id="{D89D8B1A-7800-0CFD-6359-CBCDD18951E0}"/>
              </a:ext>
            </a:extLst>
          </p:cNvPr>
          <p:cNvSpPr>
            <a:spLocks noGrp="1"/>
          </p:cNvSpPr>
          <p:nvPr>
            <p:ph type="sldNum" sz="quarter" idx="12"/>
          </p:nvPr>
        </p:nvSpPr>
        <p:spPr/>
        <p:txBody>
          <a:bodyPr/>
          <a:lstStyle/>
          <a:p>
            <a:fld id="{CC057153-B650-4DEB-B370-79DDCFDCE934}" type="slidenum">
              <a:rPr lang="en-US" dirty="0"/>
              <a:t>26</a:t>
            </a:fld>
            <a:endParaRPr lang="en-US"/>
          </a:p>
        </p:txBody>
      </p:sp>
      <p:graphicFrame>
        <p:nvGraphicFramePr>
          <p:cNvPr id="6" name="Object 5">
            <a:extLst>
              <a:ext uri="{FF2B5EF4-FFF2-40B4-BE49-F238E27FC236}">
                <a16:creationId xmlns:a16="http://schemas.microsoft.com/office/drawing/2014/main" id="{4320B820-A625-00DA-2E3F-701C82427FF1}"/>
              </a:ext>
            </a:extLst>
          </p:cNvPr>
          <p:cNvGraphicFramePr>
            <a:graphicFrameLocks noChangeAspect="1"/>
          </p:cNvGraphicFramePr>
          <p:nvPr/>
        </p:nvGraphicFramePr>
        <p:xfrm>
          <a:off x="3258324" y="2091265"/>
          <a:ext cx="3090050" cy="949440"/>
        </p:xfrm>
        <a:graphic>
          <a:graphicData uri="http://schemas.openxmlformats.org/presentationml/2006/ole">
            <mc:AlternateContent xmlns:mc="http://schemas.openxmlformats.org/markup-compatibility/2006">
              <mc:Choice xmlns:v="urn:schemas-microsoft-com:vml" Requires="v">
                <p:oleObj name="Packager Shell Object" showAsIcon="1" r:id="rId3" imgW="1684197" imgH="518081" progId="Package">
                  <p:embed/>
                </p:oleObj>
              </mc:Choice>
              <mc:Fallback>
                <p:oleObj name="Packager Shell Object" showAsIcon="1" r:id="rId3" imgW="1684197" imgH="518081" progId="Package">
                  <p:embed/>
                  <p:pic>
                    <p:nvPicPr>
                      <p:cNvPr id="6" name="Object 5">
                        <a:extLst>
                          <a:ext uri="{FF2B5EF4-FFF2-40B4-BE49-F238E27FC236}">
                            <a16:creationId xmlns:a16="http://schemas.microsoft.com/office/drawing/2014/main" id="{4320B820-A625-00DA-2E3F-701C82427FF1}"/>
                          </a:ext>
                        </a:extLst>
                      </p:cNvPr>
                      <p:cNvPicPr/>
                      <p:nvPr/>
                    </p:nvPicPr>
                    <p:blipFill>
                      <a:blip r:embed="rId4"/>
                      <a:stretch>
                        <a:fillRect/>
                      </a:stretch>
                    </p:blipFill>
                    <p:spPr>
                      <a:xfrm>
                        <a:off x="3258324" y="2091265"/>
                        <a:ext cx="3090050" cy="94944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3B214DBA-6FD8-FAEA-D099-A11BF0FB3E3F}"/>
              </a:ext>
            </a:extLst>
          </p:cNvPr>
          <p:cNvSpPr txBox="1"/>
          <p:nvPr/>
        </p:nvSpPr>
        <p:spPr>
          <a:xfrm>
            <a:off x="1003931" y="2355521"/>
            <a:ext cx="2496353"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 Adaptive </a:t>
            </a:r>
            <a:r>
              <a:rPr lang="en-US" dirty="0">
                <a:latin typeface="Times New Roman" panose="02020603050405020304" pitchFamily="18" charset="0"/>
                <a:cs typeface="Times New Roman" panose="02020603050405020304" pitchFamily="18" charset="0"/>
              </a:rPr>
              <a:t>filter  code </a:t>
            </a:r>
            <a:r>
              <a:rPr lang="en-US" b="1" dirty="0"/>
              <a:t>:</a:t>
            </a:r>
            <a:endParaRPr lang="en-IN" b="1" dirty="0"/>
          </a:p>
        </p:txBody>
      </p:sp>
    </p:spTree>
    <p:extLst>
      <p:ext uri="{BB962C8B-B14F-4D97-AF65-F5344CB8AC3E}">
        <p14:creationId xmlns:p14="http://schemas.microsoft.com/office/powerpoint/2010/main" val="1488502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B8D6E5-5EE3-8E93-37D0-FA8B7D8640BD}"/>
              </a:ext>
            </a:extLst>
          </p:cNvPr>
          <p:cNvSpPr>
            <a:spLocks noGrp="1"/>
          </p:cNvSpPr>
          <p:nvPr>
            <p:ph type="dt" sz="half" idx="10"/>
          </p:nvPr>
        </p:nvSpPr>
        <p:spPr/>
        <p:txBody>
          <a:bodyPr/>
          <a:lstStyle/>
          <a:p>
            <a:fld id="{2C1913FD-14CA-4FFA-B9FA-FD65060782B2}" type="datetime1">
              <a:rPr lang="en-US"/>
              <a:t>6/14/2026</a:t>
            </a:fld>
            <a:endParaRPr lang="en-US"/>
          </a:p>
        </p:txBody>
      </p:sp>
      <p:sp>
        <p:nvSpPr>
          <p:cNvPr id="4" name="Slide Number Placeholder 3">
            <a:extLst>
              <a:ext uri="{FF2B5EF4-FFF2-40B4-BE49-F238E27FC236}">
                <a16:creationId xmlns:a16="http://schemas.microsoft.com/office/drawing/2014/main" id="{F77E7716-2043-537D-A596-0DB8AFCFF146}"/>
              </a:ext>
            </a:extLst>
          </p:cNvPr>
          <p:cNvSpPr>
            <a:spLocks noGrp="1"/>
          </p:cNvSpPr>
          <p:nvPr>
            <p:ph type="sldNum" sz="quarter" idx="12"/>
          </p:nvPr>
        </p:nvSpPr>
        <p:spPr/>
        <p:txBody>
          <a:bodyPr/>
          <a:lstStyle/>
          <a:p>
            <a:fld id="{CC057153-B650-4DEB-B370-79DDCFDCE934}" type="slidenum">
              <a:rPr lang="en-US" dirty="0"/>
              <a:t>27</a:t>
            </a:fld>
            <a:endParaRPr lang="en-US"/>
          </a:p>
        </p:txBody>
      </p:sp>
      <p:pic>
        <p:nvPicPr>
          <p:cNvPr id="6" name="Picture 5" descr="A close up of a logo&#10;&#10;Description automatically generated">
            <a:extLst>
              <a:ext uri="{FF2B5EF4-FFF2-40B4-BE49-F238E27FC236}">
                <a16:creationId xmlns:a16="http://schemas.microsoft.com/office/drawing/2014/main" id="{C196A80F-BF1B-B248-084C-0A0D053D6F96}"/>
              </a:ext>
            </a:extLst>
          </p:cNvPr>
          <p:cNvPicPr>
            <a:picLocks noChangeAspect="1"/>
          </p:cNvPicPr>
          <p:nvPr/>
        </p:nvPicPr>
        <p:blipFill>
          <a:blip r:embed="rId2"/>
          <a:stretch>
            <a:fillRect/>
          </a:stretch>
        </p:blipFill>
        <p:spPr>
          <a:xfrm>
            <a:off x="1222789" y="425681"/>
            <a:ext cx="9753600" cy="1066800"/>
          </a:xfrm>
          <a:prstGeom prst="rect">
            <a:avLst/>
          </a:prstGeom>
        </p:spPr>
      </p:pic>
      <p:sp>
        <p:nvSpPr>
          <p:cNvPr id="7" name="TextBox 6">
            <a:extLst>
              <a:ext uri="{FF2B5EF4-FFF2-40B4-BE49-F238E27FC236}">
                <a16:creationId xmlns:a16="http://schemas.microsoft.com/office/drawing/2014/main" id="{FA4304C1-626C-0D38-B7E4-CA1323B8C854}"/>
              </a:ext>
            </a:extLst>
          </p:cNvPr>
          <p:cNvSpPr txBox="1"/>
          <p:nvPr/>
        </p:nvSpPr>
        <p:spPr>
          <a:xfrm>
            <a:off x="569491" y="1504198"/>
            <a:ext cx="1072529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Times New Roman"/>
                <a:cs typeface="Times New Roman"/>
              </a:rPr>
              <a:t>4. Adapt the Filter Loop through the data: </a:t>
            </a:r>
          </a:p>
          <a:p>
            <a:r>
              <a:rPr lang="en-US">
                <a:latin typeface="Times New Roman"/>
                <a:cs typeface="Times New Roman"/>
              </a:rPr>
              <a:t> Compute the error:</a:t>
            </a:r>
          </a:p>
          <a:p>
            <a:r>
              <a:rPr lang="en-US">
                <a:latin typeface="Times New Roman"/>
                <a:cs typeface="Times New Roman"/>
              </a:rPr>
              <a:t> Difference between the desired signal (primary) and the filtered output of the reference signal.</a:t>
            </a:r>
          </a:p>
          <a:p>
            <a:r>
              <a:rPr lang="en-US">
                <a:latin typeface="Times New Roman"/>
                <a:cs typeface="Times New Roman"/>
              </a:rPr>
              <a:t> Calculate the Mean Squared Error (MSE) at each iteration to monitor performance.</a:t>
            </a:r>
            <a:endParaRPr lang="en-US"/>
          </a:p>
          <a:p>
            <a:endParaRPr lang="en-US">
              <a:solidFill>
                <a:srgbClr val="FF0000"/>
              </a:solidFill>
              <a:latin typeface="Times New Roman"/>
              <a:cs typeface="Times New Roman"/>
            </a:endParaRPr>
          </a:p>
          <a:p>
            <a:r>
              <a:rPr lang="en-US">
                <a:solidFill>
                  <a:srgbClr val="FF0000"/>
                </a:solidFill>
                <a:latin typeface="Times New Roman"/>
                <a:ea typeface="+mn-lt"/>
                <a:cs typeface="+mn-lt"/>
              </a:rPr>
              <a:t>5. Divide the Data Process in two segments:</a:t>
            </a:r>
          </a:p>
          <a:p>
            <a:r>
              <a:rPr lang="en-US">
                <a:latin typeface="Times New Roman"/>
                <a:ea typeface="+mn-lt"/>
                <a:cs typeface="+mn-lt"/>
              </a:rPr>
              <a:t> First segment (1–46,500 samples): Update W_1 and compute performance_curve1.</a:t>
            </a:r>
            <a:endParaRPr lang="en-US">
              <a:latin typeface="Times New Roman"/>
              <a:cs typeface="Times New Roman"/>
            </a:endParaRPr>
          </a:p>
          <a:p>
            <a:r>
              <a:rPr lang="en-US">
                <a:latin typeface="Times New Roman"/>
                <a:ea typeface="+mn-lt"/>
                <a:cs typeface="+mn-lt"/>
              </a:rPr>
              <a:t> Second segment (46,501–end): Update W_2 and compute performance_curve2.</a:t>
            </a:r>
            <a:endParaRPr lang="en-US">
              <a:latin typeface="Times New Roman"/>
              <a:cs typeface="Times New Roman"/>
            </a:endParaRPr>
          </a:p>
          <a:p>
            <a:endParaRPr lang="en-US">
              <a:solidFill>
                <a:srgbClr val="FF0000"/>
              </a:solidFill>
              <a:latin typeface="Times New Roman"/>
              <a:ea typeface="+mn-lt"/>
              <a:cs typeface="+mn-lt"/>
            </a:endParaRPr>
          </a:p>
          <a:p>
            <a:r>
              <a:rPr lang="en-US">
                <a:solidFill>
                  <a:srgbClr val="FF0000"/>
                </a:solidFill>
                <a:latin typeface="Times New Roman"/>
                <a:ea typeface="+mn-lt"/>
                <a:cs typeface="+mn-lt"/>
              </a:rPr>
              <a:t>6. Output the Results:</a:t>
            </a:r>
            <a:endParaRPr lang="en-US">
              <a:solidFill>
                <a:srgbClr val="FF0000"/>
              </a:solidFill>
              <a:latin typeface="Times New Roman"/>
              <a:cs typeface="Times New Roman"/>
            </a:endParaRPr>
          </a:p>
          <a:p>
            <a:r>
              <a:rPr lang="en-US">
                <a:latin typeface="Times New Roman"/>
                <a:ea typeface="+mn-lt"/>
                <a:cs typeface="+mn-lt"/>
              </a:rPr>
              <a:t> Combine the error signals from both segments.</a:t>
            </a:r>
            <a:endParaRPr lang="en-US">
              <a:latin typeface="Times New Roman"/>
              <a:cs typeface="Times New Roman"/>
            </a:endParaRPr>
          </a:p>
          <a:p>
            <a:r>
              <a:rPr lang="en-US">
                <a:latin typeface="Times New Roman"/>
                <a:ea typeface="+mn-lt"/>
                <a:cs typeface="+mn-lt"/>
              </a:rPr>
              <a:t> Compute the Signal-to-Noise Ratio (SNR) improvement after filtering.</a:t>
            </a:r>
            <a:endParaRPr lang="en-US">
              <a:latin typeface="Times New Roman"/>
              <a:cs typeface="Times New Roman"/>
            </a:endParaRPr>
          </a:p>
          <a:p>
            <a:r>
              <a:rPr lang="en-US">
                <a:latin typeface="Times New Roman"/>
                <a:ea typeface="+mn-lt"/>
                <a:cs typeface="+mn-lt"/>
              </a:rPr>
              <a:t> Plot:</a:t>
            </a:r>
            <a:endParaRPr lang="en-US">
              <a:latin typeface="Times New Roman"/>
              <a:cs typeface="Times New Roman"/>
            </a:endParaRPr>
          </a:p>
          <a:p>
            <a:r>
              <a:rPr lang="en-US">
                <a:latin typeface="Times New Roman"/>
                <a:ea typeface="+mn-lt"/>
                <a:cs typeface="+mn-lt"/>
              </a:rPr>
              <a:t> Learning Curves: MSE vs. iterations for both segments.</a:t>
            </a:r>
            <a:endParaRPr lang="en-US">
              <a:latin typeface="Times New Roman"/>
              <a:cs typeface="Times New Roman"/>
            </a:endParaRPr>
          </a:p>
          <a:p>
            <a:r>
              <a:rPr lang="en-US">
                <a:latin typeface="Times New Roman"/>
                <a:ea typeface="+mn-lt"/>
                <a:cs typeface="+mn-lt"/>
              </a:rPr>
              <a:t> Error Signal: Difference between the desired output and filtered output.</a:t>
            </a:r>
            <a:endParaRPr lang="en-US">
              <a:latin typeface="Times New Roman"/>
              <a:cs typeface="Times New Roman"/>
            </a:endParaRPr>
          </a:p>
          <a:p>
            <a:endParaRPr lang="en-US">
              <a:solidFill>
                <a:srgbClr val="FF0000"/>
              </a:solidFill>
              <a:latin typeface="Times New Roman"/>
              <a:ea typeface="+mn-lt"/>
              <a:cs typeface="+mn-lt"/>
            </a:endParaRPr>
          </a:p>
          <a:p>
            <a:r>
              <a:rPr lang="en-US">
                <a:solidFill>
                  <a:srgbClr val="FF0000"/>
                </a:solidFill>
                <a:latin typeface="Times New Roman"/>
                <a:ea typeface="+mn-lt"/>
                <a:cs typeface="+mn-lt"/>
              </a:rPr>
              <a:t>7. Optional Step:</a:t>
            </a:r>
            <a:endParaRPr lang="en-US">
              <a:solidFill>
                <a:srgbClr val="FF0000"/>
              </a:solidFill>
              <a:latin typeface="Times New Roman"/>
              <a:cs typeface="Times New Roman"/>
            </a:endParaRPr>
          </a:p>
          <a:p>
            <a:r>
              <a:rPr lang="en-US">
                <a:latin typeface="Times New Roman"/>
                <a:ea typeface="+mn-lt"/>
                <a:cs typeface="+mn-lt"/>
              </a:rPr>
              <a:t> Use the sounds function to play back the filtered signal.</a:t>
            </a:r>
            <a:endParaRPr lang="en-US">
              <a:latin typeface="Times New Roman"/>
              <a:cs typeface="Times New Roman"/>
            </a:endParaRPr>
          </a:p>
        </p:txBody>
      </p:sp>
    </p:spTree>
    <p:extLst>
      <p:ext uri="{BB962C8B-B14F-4D97-AF65-F5344CB8AC3E}">
        <p14:creationId xmlns:p14="http://schemas.microsoft.com/office/powerpoint/2010/main" val="32418017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4B496DD0-3F73-3464-9EC4-A690CE416FA8}"/>
              </a:ext>
            </a:extLst>
          </p:cNvPr>
          <p:cNvPicPr>
            <a:picLocks noChangeAspect="1"/>
          </p:cNvPicPr>
          <p:nvPr/>
        </p:nvPicPr>
        <p:blipFill>
          <a:blip r:embed="rId2"/>
          <a:stretch>
            <a:fillRect/>
          </a:stretch>
        </p:blipFill>
        <p:spPr>
          <a:xfrm>
            <a:off x="911341" y="336619"/>
            <a:ext cx="9753600" cy="1066800"/>
          </a:xfrm>
          <a:prstGeom prst="rect">
            <a:avLst/>
          </a:prstGeom>
        </p:spPr>
      </p:pic>
      <p:sp>
        <p:nvSpPr>
          <p:cNvPr id="7" name="TextBox 6">
            <a:extLst>
              <a:ext uri="{FF2B5EF4-FFF2-40B4-BE49-F238E27FC236}">
                <a16:creationId xmlns:a16="http://schemas.microsoft.com/office/drawing/2014/main" id="{6BCC2798-5B8E-06CA-387E-626CC44DA87D}"/>
              </a:ext>
            </a:extLst>
          </p:cNvPr>
          <p:cNvSpPr txBox="1"/>
          <p:nvPr/>
        </p:nvSpPr>
        <p:spPr>
          <a:xfrm>
            <a:off x="296768" y="1405823"/>
            <a:ext cx="8658684"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800" b="1">
                <a:solidFill>
                  <a:srgbClr val="FF0000"/>
                </a:solidFill>
                <a:latin typeface="Times New Roman"/>
                <a:cs typeface="Times New Roman"/>
              </a:rPr>
              <a:t>Sample Results /Expected Output: </a:t>
            </a:r>
            <a:r>
              <a:rPr lang="en-US" sz="2800">
                <a:solidFill>
                  <a:srgbClr val="FF0000"/>
                </a:solidFill>
                <a:latin typeface="Times New Roman"/>
                <a:cs typeface="Times New Roman"/>
              </a:rPr>
              <a:t> </a:t>
            </a:r>
            <a:r>
              <a:rPr lang="en-US" sz="1600">
                <a:solidFill>
                  <a:srgbClr val="000000"/>
                </a:solidFill>
                <a:latin typeface="Neue Haas Grotesk Text Pro"/>
                <a:cs typeface="Times New Roman"/>
              </a:rPr>
              <a:t>  </a:t>
            </a:r>
            <a:endParaRPr lang="en-US"/>
          </a:p>
          <a:p>
            <a:pPr algn="l"/>
            <a:endParaRPr lang="en-US"/>
          </a:p>
        </p:txBody>
      </p:sp>
      <p:sp>
        <p:nvSpPr>
          <p:cNvPr id="2" name="TextBox 1">
            <a:extLst>
              <a:ext uri="{FF2B5EF4-FFF2-40B4-BE49-F238E27FC236}">
                <a16:creationId xmlns:a16="http://schemas.microsoft.com/office/drawing/2014/main" id="{279E21B9-A06B-D7FC-2EA6-ADB1D4B1318F}"/>
              </a:ext>
            </a:extLst>
          </p:cNvPr>
          <p:cNvSpPr txBox="1"/>
          <p:nvPr/>
        </p:nvSpPr>
        <p:spPr>
          <a:xfrm>
            <a:off x="763187" y="1935887"/>
            <a:ext cx="1107840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mn-lt"/>
                <a:cs typeface="+mn-lt"/>
              </a:rPr>
              <a:t> </a:t>
            </a:r>
            <a:r>
              <a:rPr lang="en-US" sz="1600">
                <a:solidFill>
                  <a:srgbClr val="FF0000"/>
                </a:solidFill>
                <a:ea typeface="+mn-lt"/>
                <a:cs typeface="+mn-lt"/>
              </a:rPr>
              <a:t>1. Learning Curves</a:t>
            </a:r>
            <a:endParaRPr lang="en-US" sz="1600">
              <a:solidFill>
                <a:srgbClr val="FF0000"/>
              </a:solidFill>
            </a:endParaRPr>
          </a:p>
          <a:p>
            <a:r>
              <a:rPr lang="en-US" sz="1600">
                <a:ea typeface="+mn-lt"/>
                <a:cs typeface="+mn-lt"/>
              </a:rPr>
              <a:t> </a:t>
            </a:r>
            <a:r>
              <a:rPr lang="en-US" sz="1600">
                <a:solidFill>
                  <a:srgbClr val="00B0F0"/>
                </a:solidFill>
                <a:ea typeface="+mn-lt"/>
                <a:cs typeface="+mn-lt"/>
              </a:rPr>
              <a:t>Graph 1:  </a:t>
            </a:r>
            <a:r>
              <a:rPr lang="en-US" sz="1600">
                <a:ea typeface="+mn-lt"/>
                <a:cs typeface="+mn-lt"/>
              </a:rPr>
              <a:t>The MSE (error) reduces as the filter learns over the first 46,500 data points.</a:t>
            </a:r>
            <a:endParaRPr lang="en-US" sz="1600"/>
          </a:p>
          <a:p>
            <a:r>
              <a:rPr lang="en-US" sz="1600">
                <a:ea typeface="+mn-lt"/>
                <a:cs typeface="+mn-lt"/>
              </a:rPr>
              <a:t>              The line starts high and then gradually decreases, showing the filter is improving.</a:t>
            </a:r>
            <a:endParaRPr lang="en-US" sz="1600"/>
          </a:p>
          <a:p>
            <a:endParaRPr lang="en-US" sz="1600">
              <a:solidFill>
                <a:srgbClr val="000000"/>
              </a:solidFill>
              <a:ea typeface="+mn-lt"/>
              <a:cs typeface="+mn-lt"/>
            </a:endParaRPr>
          </a:p>
          <a:p>
            <a:r>
              <a:rPr lang="en-US" sz="1600">
                <a:solidFill>
                  <a:srgbClr val="00B0F0"/>
                </a:solidFill>
                <a:ea typeface="+mn-lt"/>
                <a:cs typeface="+mn-lt"/>
              </a:rPr>
              <a:t>    Graph 2:</a:t>
            </a:r>
            <a:r>
              <a:rPr lang="en-US" sz="1600">
                <a:ea typeface="+mn-lt"/>
                <a:cs typeface="+mn-lt"/>
              </a:rPr>
              <a:t> The same process but for the later data points (46,501 onwards).</a:t>
            </a:r>
            <a:endParaRPr lang="en-US" sz="1600"/>
          </a:p>
          <a:p>
            <a:r>
              <a:rPr lang="en-US" sz="1600">
                <a:ea typeface="+mn-lt"/>
                <a:cs typeface="+mn-lt"/>
              </a:rPr>
              <a:t>         The line might be stable or decrease further depending on the signal.</a:t>
            </a:r>
            <a:endParaRPr lang="en-US" sz="1600"/>
          </a:p>
          <a:p>
            <a:r>
              <a:rPr lang="en-US" sz="1600">
                <a:solidFill>
                  <a:srgbClr val="FF0000"/>
                </a:solidFill>
                <a:ea typeface="+mn-lt"/>
                <a:cs typeface="+mn-lt"/>
              </a:rPr>
              <a:t>2. Error Signal</a:t>
            </a:r>
            <a:endParaRPr lang="en-US" sz="1600">
              <a:solidFill>
                <a:srgbClr val="FF0000"/>
              </a:solidFill>
            </a:endParaRPr>
          </a:p>
          <a:p>
            <a:r>
              <a:rPr lang="en-US" sz="1600">
                <a:solidFill>
                  <a:srgbClr val="00B0F0"/>
                </a:solidFill>
                <a:ea typeface="+mn-lt"/>
                <a:cs typeface="+mn-lt"/>
              </a:rPr>
              <a:t>    Graph 3:</a:t>
            </a:r>
            <a:r>
              <a:rPr lang="en-US" sz="1600">
                <a:ea typeface="+mn-lt"/>
                <a:cs typeface="+mn-lt"/>
              </a:rPr>
              <a:t> A plot of the remaining noise/error after the filter is applied.</a:t>
            </a:r>
            <a:endParaRPr lang="en-US" sz="1600"/>
          </a:p>
          <a:p>
            <a:r>
              <a:rPr lang="en-US" sz="1600">
                <a:ea typeface="+mn-lt"/>
                <a:cs typeface="+mn-lt"/>
              </a:rPr>
              <a:t>                    Ideally, this should be small, meaning the filter has done a good job of removing noise.</a:t>
            </a:r>
            <a:endParaRPr lang="en-US" sz="1600"/>
          </a:p>
          <a:p>
            <a:endParaRPr lang="en-US" sz="1600">
              <a:solidFill>
                <a:srgbClr val="000000"/>
              </a:solidFill>
              <a:ea typeface="+mn-lt"/>
              <a:cs typeface="+mn-lt"/>
            </a:endParaRPr>
          </a:p>
          <a:p>
            <a:r>
              <a:rPr lang="en-US" sz="1600">
                <a:solidFill>
                  <a:srgbClr val="FF0000"/>
                </a:solidFill>
                <a:ea typeface="+mn-lt"/>
                <a:cs typeface="+mn-lt"/>
              </a:rPr>
              <a:t>3. Signal-to-Noise Ratio (SNR)</a:t>
            </a:r>
            <a:r>
              <a:rPr lang="en-US" sz="1600">
                <a:ea typeface="+mn-lt"/>
                <a:cs typeface="+mn-lt"/>
              </a:rPr>
              <a:t> </a:t>
            </a:r>
          </a:p>
          <a:p>
            <a:r>
              <a:rPr lang="en-US" sz="1600">
                <a:ea typeface="+mn-lt"/>
                <a:cs typeface="+mn-lt"/>
              </a:rPr>
              <a:t>    You will see a number printed like:</a:t>
            </a:r>
            <a:endParaRPr lang="en-US" sz="1600"/>
          </a:p>
          <a:p>
            <a:r>
              <a:rPr lang="en-US" sz="1600">
                <a:ea typeface="+mn-lt"/>
                <a:cs typeface="+mn-lt"/>
              </a:rPr>
              <a:t>     java</a:t>
            </a:r>
            <a:endParaRPr lang="en-US" sz="1600"/>
          </a:p>
          <a:p>
            <a:r>
              <a:rPr lang="en-US" sz="1600">
                <a:ea typeface="+mn-lt"/>
                <a:cs typeface="+mn-lt"/>
              </a:rPr>
              <a:t>     Copy code</a:t>
            </a:r>
            <a:endParaRPr lang="en-US" sz="1600"/>
          </a:p>
          <a:p>
            <a:r>
              <a:rPr lang="en-US" sz="1600">
                <a:ea typeface="+mn-lt"/>
                <a:cs typeface="+mn-lt"/>
              </a:rPr>
              <a:t>     SNR After = 20 dB</a:t>
            </a:r>
            <a:endParaRPr lang="en-US" sz="1600"/>
          </a:p>
          <a:p>
            <a:r>
              <a:rPr lang="en-US" sz="1600">
                <a:ea typeface="+mn-lt"/>
                <a:cs typeface="+mn-lt"/>
              </a:rPr>
              <a:t>     A higher number (e.g., 20 dB or more) means the signal quality improved after filtering.</a:t>
            </a:r>
            <a:endParaRPr lang="en-US" sz="1600"/>
          </a:p>
          <a:p>
            <a:r>
              <a:rPr lang="en-US" sz="1600">
                <a:solidFill>
                  <a:srgbClr val="FF0000"/>
                </a:solidFill>
                <a:ea typeface="+mn-lt"/>
                <a:cs typeface="+mn-lt"/>
              </a:rPr>
              <a:t>4. Audio Output (Optional)</a:t>
            </a:r>
            <a:endParaRPr lang="en-US" sz="1600">
              <a:solidFill>
                <a:srgbClr val="FF0000"/>
              </a:solidFill>
            </a:endParaRPr>
          </a:p>
          <a:p>
            <a:r>
              <a:rPr lang="en-US" sz="1600">
                <a:ea typeface="+mn-lt"/>
                <a:cs typeface="+mn-lt"/>
              </a:rPr>
              <a:t>   If you play the sound, it will be a cleaner version of the original signal with less noise.</a:t>
            </a:r>
            <a:endParaRPr lang="en-US" sz="1600"/>
          </a:p>
        </p:txBody>
      </p:sp>
      <p:sp>
        <p:nvSpPr>
          <p:cNvPr id="4" name="Slide Number Placeholder 3">
            <a:extLst>
              <a:ext uri="{FF2B5EF4-FFF2-40B4-BE49-F238E27FC236}">
                <a16:creationId xmlns:a16="http://schemas.microsoft.com/office/drawing/2014/main" id="{47822FFA-A4A0-C4CE-3271-629935E21C0D}"/>
              </a:ext>
            </a:extLst>
          </p:cNvPr>
          <p:cNvSpPr>
            <a:spLocks noGrp="1"/>
          </p:cNvSpPr>
          <p:nvPr>
            <p:ph type="sldNum" sz="quarter" idx="12"/>
          </p:nvPr>
        </p:nvSpPr>
        <p:spPr/>
        <p:txBody>
          <a:bodyPr/>
          <a:lstStyle/>
          <a:p>
            <a:fld id="{CC057153-B650-4DEB-B370-79DDCFDCE934}" type="slidenum">
              <a:rPr lang="en-US" dirty="0"/>
              <a:t>28</a:t>
            </a:fld>
            <a:endParaRPr lang="en-US"/>
          </a:p>
        </p:txBody>
      </p:sp>
    </p:spTree>
    <p:extLst>
      <p:ext uri="{BB962C8B-B14F-4D97-AF65-F5344CB8AC3E}">
        <p14:creationId xmlns:p14="http://schemas.microsoft.com/office/powerpoint/2010/main" val="1174703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B8351F-A3FD-A958-0D27-2936AC6F2DDB}"/>
              </a:ext>
            </a:extLst>
          </p:cNvPr>
          <p:cNvSpPr txBox="1"/>
          <p:nvPr/>
        </p:nvSpPr>
        <p:spPr>
          <a:xfrm>
            <a:off x="4139381" y="3075057"/>
            <a:ext cx="3313921" cy="707886"/>
          </a:xfrm>
          <a:prstGeom prst="rect">
            <a:avLst/>
          </a:prstGeom>
          <a:noFill/>
        </p:spPr>
        <p:txBody>
          <a:bodyPr wrap="none" rtlCol="0">
            <a:spAutoFit/>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THANK YOU</a:t>
            </a:r>
            <a:endParaRPr lang="en-IN"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descr="A close up of a logo&#10;&#10;Description automatically generated">
            <a:extLst>
              <a:ext uri="{FF2B5EF4-FFF2-40B4-BE49-F238E27FC236}">
                <a16:creationId xmlns:a16="http://schemas.microsoft.com/office/drawing/2014/main" id="{03076217-1D4A-3983-2B12-7FA029453505}"/>
              </a:ext>
            </a:extLst>
          </p:cNvPr>
          <p:cNvPicPr>
            <a:picLocks noChangeAspect="1"/>
          </p:cNvPicPr>
          <p:nvPr/>
        </p:nvPicPr>
        <p:blipFill>
          <a:blip r:embed="rId2"/>
          <a:stretch>
            <a:fillRect/>
          </a:stretch>
        </p:blipFill>
        <p:spPr>
          <a:xfrm>
            <a:off x="783330" y="351858"/>
            <a:ext cx="10625339" cy="1294061"/>
          </a:xfrm>
          <a:prstGeom prst="rect">
            <a:avLst/>
          </a:prstGeom>
        </p:spPr>
      </p:pic>
    </p:spTree>
    <p:extLst>
      <p:ext uri="{BB962C8B-B14F-4D97-AF65-F5344CB8AC3E}">
        <p14:creationId xmlns:p14="http://schemas.microsoft.com/office/powerpoint/2010/main" val="1606619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2136</Words>
  <Application>Microsoft Office PowerPoint</Application>
  <PresentationFormat>Widescreen</PresentationFormat>
  <Paragraphs>315</Paragraphs>
  <Slides>29</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40" baseType="lpstr">
      <vt:lpstr>Arial</vt:lpstr>
      <vt:lpstr>Calibri</vt:lpstr>
      <vt:lpstr>Calibri Light</vt:lpstr>
      <vt:lpstr>Corbel</vt:lpstr>
      <vt:lpstr>Neue Haas Grotesk Text Pro</vt:lpstr>
      <vt:lpstr>SamsungOne 800</vt:lpstr>
      <vt:lpstr>Times New Roman</vt:lpstr>
      <vt:lpstr>TimesNewRomanPS-BoldMT</vt:lpstr>
      <vt:lpstr>Wingdings</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Planning</vt:lpstr>
      <vt:lpstr>PowerPoint Presentation</vt:lpstr>
      <vt:lpstr>PowerPoint Presentation</vt:lpstr>
      <vt:lpstr>PowerPoint Presentation</vt:lpstr>
      <vt:lpstr>PowerPoint Presentation</vt:lpstr>
      <vt:lpstr>PowerPoint Presentation</vt:lpstr>
      <vt:lpstr>PowerPoint Presentation</vt:lpstr>
      <vt:lpstr>Plan for Optimization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Pruthviraj Banoshi</dc:creator>
  <cp:lastModifiedBy>Pruthviraj Banoshi</cp:lastModifiedBy>
  <cp:revision>5</cp:revision>
  <dcterms:created xsi:type="dcterms:W3CDTF">2025-01-08T04:13:42Z</dcterms:created>
  <dcterms:modified xsi:type="dcterms:W3CDTF">2026-06-14T18:32:03Z</dcterms:modified>
</cp:coreProperties>
</file>