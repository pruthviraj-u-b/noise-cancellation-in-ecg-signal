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2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5DCFF-09CC-4AAA-B934-750BC83F0D77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F8950-B11A-43F4-B8F0-865DF53F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82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10FCB-200C-2B43-9885-E5F441D2F03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587E-4A6A-110A-F34B-05F5841FC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E8815-71E3-B86C-670D-AEDD5EDCE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961D-8565-8EFC-79A5-86BFCE23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0F9A-A743-3C1F-49D1-5D208284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EA9E8-01A6-1DC0-EBD9-BAF359E0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02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DE2F-2581-6330-B488-6124B50F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A1BB-78BA-A65A-64DB-04FE9B23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6783-64AB-4B19-E107-427CD73D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86D1B-C0EB-3737-DAEB-57D9A232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7C6D3-4A67-1D2B-DE5C-9EC3BD50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3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4CAF-1DC8-8042-EDA7-0B129F46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8AEF-8817-BF11-C18B-E00A1C8D2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835E0-5C48-6CDF-BCB9-08E4194F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46BC2-3EAA-F552-13AF-E4FF30A0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C0D90-C191-10CC-F99A-EB1D0B0F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74B0-2187-E9C5-E1D1-B460B4AF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DEC4F-96BB-D821-4C7F-712BDF43D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42281-A60A-E506-62C9-8F2F9BAC3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9B4EC-E0D3-D19A-BC04-262234E2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657BB-2C9D-1CBC-4FFA-C6D7A2D1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CC006-267B-02C4-CD98-FD783CC4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91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DA7C-97EC-8576-5C72-2C20DF22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70F8C-40DE-9B4C-B4A8-A69EAE855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F293E-7857-EB45-39D6-A6F3CE8DD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0D501-F747-47E9-DB19-005762CE1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BC6E9-C7EF-F31B-B672-0DAA76129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D6DF74-8CB5-AA17-4CE9-05D148D8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C8F96-A389-60AA-DA24-EB5E35FC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5E3CD-8EA6-EC01-CBE2-D33EBFD0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5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E43C-2711-A5AD-1D12-B2683D49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57501-DB4B-C675-84FD-A942972F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CB284-BB48-3AEA-6554-937204A0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D2654-9B72-A939-B8CD-32E240C7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82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BD3C4-813E-88C2-758B-B51C66BF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9B824-17F0-D298-3B9B-6166C3A3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83D2F-B2D8-EE32-9D12-56BDFA8D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5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1CFD-BCA3-12AC-98EF-20BA2783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E276-6657-EB51-67F7-4D5D0C078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399AF-688C-9947-4AA6-D79288F68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7F7E0-64CA-30A8-46F6-D690353E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ADB31-B1DF-CCD1-2EB3-01FB290D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BD540-E6EC-508D-45C7-7D289313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59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62C2-51A0-D6C6-D662-72E34520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4CC0C-2466-22B3-542C-F7B36459C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D6AD1-DD65-EF70-6B85-F2AF2906B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13088-9A72-B78A-B8C8-9C53B42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6B3A3-59A7-B082-BF58-983AA3C3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52D6-0787-1C50-AC75-0F5694E1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50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82D2-DB31-2739-7458-A40ADC27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30B29-F456-97A5-E2C0-1BC824EF9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3754-712D-44C6-BFF7-81565226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3509-EBEC-9FBC-6FA3-393FCFFC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78F-CD8C-64F3-5604-176A6F35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41C21-3E92-8B30-7FE7-0B7E1CDED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72D2B-F4FD-0866-130C-EE823EA31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0C003-EEDE-45B7-8824-ACB39419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1F74-E668-A256-FC37-804574E5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987D-4E2C-B32C-8D61-95E8AD74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51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359E6-82DD-D56B-8D74-9AF7BAB0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B8C5-F184-7630-8DEE-06C4E7CEA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A2C12-272B-F3B6-9058-2E3CB0A5F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26DAB-10EF-43AE-A509-EB9F794EE23C}" type="datetimeFigureOut">
              <a:rPr lang="en-IN" smtClean="0"/>
              <a:t>01-01-2025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59664-7668-3CDC-8FA5-727E8EC28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DA7F-EE4D-F549-969D-F76B3EB99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1D96F-C919-4568-8F04-BEA026A6A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8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0" y="728651"/>
            <a:ext cx="121288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AutoShape 2" descr="Jawaharlal Nehru Medical College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400"/>
          </a:p>
        </p:txBody>
      </p:sp>
      <p:sp>
        <p:nvSpPr>
          <p:cNvPr id="5" name="AutoShape 5" descr="JNMC BELAGAVI - 2022 Admission Process, Ranking, Reviews, Affiliations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D0EE9-910C-82F8-11D7-2C27A88B4A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3" r="38198" b="64454"/>
          <a:stretch/>
        </p:blipFill>
        <p:spPr>
          <a:xfrm>
            <a:off x="8910493" y="76201"/>
            <a:ext cx="3218355" cy="5828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12AB5E-1560-712F-8183-68EF2537F3A0}"/>
              </a:ext>
            </a:extLst>
          </p:cNvPr>
          <p:cNvSpPr txBox="1"/>
          <p:nvPr/>
        </p:nvSpPr>
        <p:spPr>
          <a:xfrm>
            <a:off x="0" y="152556"/>
            <a:ext cx="8754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2000" b="1">
                <a:solidFill>
                  <a:srgbClr val="0070C0"/>
                </a:solidFill>
              </a:rPr>
              <a:t>NOISE CANCELLATION IN ECG SIGNAL</a:t>
            </a: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04674-74FA-6307-56E7-2B8478ADF7C8}"/>
              </a:ext>
            </a:extLst>
          </p:cNvPr>
          <p:cNvSpPr txBox="1"/>
          <p:nvPr/>
        </p:nvSpPr>
        <p:spPr>
          <a:xfrm>
            <a:off x="22288" y="2158840"/>
            <a:ext cx="7243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cs typeface="Arial" panose="020B0604020202020204" pitchFamily="34" charset="0"/>
              </a:rPr>
              <a:t> Problem Statement</a:t>
            </a:r>
            <a:r>
              <a:rPr lang="en-IN" sz="1600" dirty="0">
                <a:cs typeface="Arial" panose="020B0604020202020204" pitchFamily="34" charset="0"/>
              </a:rPr>
              <a:t>: </a:t>
            </a:r>
            <a:r>
              <a:rPr lang="en-US" sz="1600" dirty="0">
                <a:cs typeface="Arial" panose="020B0604020202020204" pitchFamily="34" charset="0"/>
              </a:rPr>
              <a:t>Develop a real-time ECG noise cancellation system to enhance      heart rate monitoring by removing interference</a:t>
            </a:r>
            <a:r>
              <a:rPr lang="en-US" sz="1600" b="1" dirty="0">
                <a:cs typeface="Arial" panose="020B0604020202020204" pitchFamily="34" charset="0"/>
              </a:rPr>
              <a:t>, </a:t>
            </a:r>
            <a:r>
              <a:rPr lang="en-US" sz="1600" dirty="0">
                <a:cs typeface="Arial" panose="020B0604020202020204" pitchFamily="34" charset="0"/>
              </a:rPr>
              <a:t>ensuring accurate diagnostics and   early heart condition detection</a:t>
            </a:r>
            <a:endParaRPr lang="ko-KR" alt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D78AD-92C4-D411-5F9C-631F924F1AA2}"/>
              </a:ext>
            </a:extLst>
          </p:cNvPr>
          <p:cNvSpPr/>
          <p:nvPr/>
        </p:nvSpPr>
        <p:spPr>
          <a:xfrm>
            <a:off x="71807" y="3013501"/>
            <a:ext cx="57627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cs typeface="Arial" panose="020B0604020202020204" pitchFamily="34" charset="0"/>
              </a:rPr>
              <a:t>Deliverables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Cancelling and ensuring robustness of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Validating using different and various kind of noise.</a:t>
            </a:r>
            <a:endParaRPr lang="en-IN" sz="1600" b="1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E5A2F-05FB-B929-8B2E-A621EB72DDCA}"/>
              </a:ext>
            </a:extLst>
          </p:cNvPr>
          <p:cNvSpPr txBox="1"/>
          <p:nvPr/>
        </p:nvSpPr>
        <p:spPr>
          <a:xfrm>
            <a:off x="83406" y="3830094"/>
            <a:ext cx="3943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cs typeface="Arial" panose="020B0604020202020204" pitchFamily="34" charset="0"/>
              </a:rPr>
              <a:t>Training / Pre-Requisites: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cs typeface="Arial" panose="020B0604020202020204" pitchFamily="34" charset="0"/>
              </a:rPr>
              <a:t>Understanding of Adaptive LMS filters, MATLAB and Filter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Arial" panose="020B0604020202020204" pitchFamily="34" charset="0"/>
            </a:endParaRPr>
          </a:p>
          <a:p>
            <a:endParaRPr lang="en-IN" sz="1600" b="1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16B9C-F1E5-E24D-9D2F-D0E8A384333F}"/>
              </a:ext>
            </a:extLst>
          </p:cNvPr>
          <p:cNvSpPr txBox="1"/>
          <p:nvPr/>
        </p:nvSpPr>
        <p:spPr>
          <a:xfrm>
            <a:off x="51890" y="4630360"/>
            <a:ext cx="6252303" cy="9848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n-IN" sz="1600">
                <a:latin typeface="+mn-lt"/>
              </a:rPr>
              <a:t>Starter Reference Material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>
                <a:latin typeface="+mn-lt"/>
                <a:cs typeface="+mn-cs"/>
              </a:rPr>
              <a:t> R. B. Govindan, K. Narayanan, and M. S. Gopinathan, “On the evidence of deterministic chaos in ECG: Surrogate and predictability analysis,” Chaos, vol. 8, no. 2, pp. 495–502, 1998.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6760" y="3383943"/>
            <a:ext cx="93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able</a:t>
            </a:r>
            <a:r>
              <a:rPr lang="en-US" sz="1400"/>
              <a:t> </a:t>
            </a:r>
            <a:endParaRPr lang="en-IN" sz="1400"/>
          </a:p>
        </p:txBody>
      </p:sp>
      <p:sp>
        <p:nvSpPr>
          <p:cNvPr id="46" name="Rectangle 45"/>
          <p:cNvSpPr/>
          <p:nvPr/>
        </p:nvSpPr>
        <p:spPr>
          <a:xfrm>
            <a:off x="6495344" y="4498752"/>
            <a:ext cx="9172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Samsung Sharp Sans Bold" pitchFamily="2" charset="0"/>
              </a:rPr>
              <a:t>Timeline</a:t>
            </a:r>
          </a:p>
        </p:txBody>
      </p:sp>
      <p:cxnSp>
        <p:nvCxnSpPr>
          <p:cNvPr id="47" name="Straight Connector 46"/>
          <p:cNvCxnSpPr>
            <a:stCxn id="48" idx="6"/>
          </p:cNvCxnSpPr>
          <p:nvPr/>
        </p:nvCxnSpPr>
        <p:spPr>
          <a:xfrm flipV="1">
            <a:off x="6637584" y="5452393"/>
            <a:ext cx="4645381" cy="9403"/>
          </a:xfrm>
          <a:prstGeom prst="line">
            <a:avLst/>
          </a:prstGeom>
          <a:ln w="12700">
            <a:solidFill>
              <a:srgbClr val="B2B2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95344" y="5390676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848443" y="5364489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230413" y="5385442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24110" y="4909236"/>
            <a:ext cx="12105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Kick Off </a:t>
            </a:r>
            <a:b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</a:b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&lt; 1</a:t>
            </a:r>
            <a:r>
              <a:rPr kumimoji="0" lang="en-IN" sz="14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st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  Month 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09412" y="4909236"/>
            <a:ext cx="1395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Milestone 1 </a:t>
            </a:r>
            <a:b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</a:b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&lt; 2</a:t>
            </a:r>
            <a:r>
              <a:rPr kumimoji="0" lang="en-IN" sz="14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nd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 Month &gt;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26277" y="4919608"/>
            <a:ext cx="14082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Milestone 2 </a:t>
            </a:r>
            <a:b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</a:b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&lt; 3</a:t>
            </a:r>
            <a:r>
              <a:rPr kumimoji="0" lang="en-IN" sz="14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rd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 &amp; 4</a:t>
            </a:r>
            <a:r>
              <a:rPr kumimoji="0" lang="en-IN" sz="14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th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 Month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07" y="873381"/>
            <a:ext cx="7004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cs typeface="Arial" panose="020B0604020202020204" pitchFamily="34" charset="0"/>
              </a:rPr>
              <a:t>Context</a:t>
            </a:r>
            <a:r>
              <a:rPr lang="en-US" sz="1600">
                <a:cs typeface="Arial" panose="020B0604020202020204" pitchFamily="34" charset="0"/>
              </a:rPr>
              <a:t>: Noise in ECG signals can lead to inaccurate heart diagnoses, causing delays in medical interventions. Current noise reduction methods are often expensive, complex, or prone to error. A machine learning-based system for real-time, automatic noise cancellation in ECG signals is essential for more reliable and accurate heart monitoring.</a:t>
            </a:r>
            <a:endParaRPr lang="en-IN" sz="1600" u="sng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5344" y="5499408"/>
            <a:ext cx="17912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Hands on learning with denoising techniques.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Checking which technique is good.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800" panose="020B0903030303020204" pitchFamily="34" charset="0"/>
              <a:ea typeface="SamsungOne 800" panose="020B0903030303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46442" y="5522475"/>
            <a:ext cx="18970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</a:rPr>
              <a:t>Finalzing the Technique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</a:rPr>
              <a:t>Optimi</a:t>
            </a:r>
            <a:r>
              <a:rPr lang="en-IN" sz="1400" dirty="0">
                <a:solidFill>
                  <a:prstClr val="black"/>
                </a:solidFill>
                <a:latin typeface="SamsungOne 800" panose="020B0903030303020204" pitchFamily="34" charset="0"/>
                <a:ea typeface="SamsungOne 800" panose="020B0903030303020204" pitchFamily="34" charset="0"/>
              </a:rPr>
              <a:t>zing the code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800" panose="020B0903030303020204" pitchFamily="34" charset="0"/>
              <a:ea typeface="SamsungOne 800" panose="020B0903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A0715-1AFF-4140-3741-5696A6FE9144}"/>
              </a:ext>
            </a:extLst>
          </p:cNvPr>
          <p:cNvSpPr txBox="1"/>
          <p:nvPr/>
        </p:nvSpPr>
        <p:spPr>
          <a:xfrm>
            <a:off x="22288" y="5534810"/>
            <a:ext cx="612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Investigation of Adaptive Filtering for Noisy ECG Signals, Nian Zhang, Bernt Askildsen, and Brian T. Hemmelman, 1-4244-0166-6/06/$20.00 ©2006 IEEE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41FC0-57EC-BBB5-9AA6-A29F99C13959}"/>
              </a:ext>
            </a:extLst>
          </p:cNvPr>
          <p:cNvSpPr txBox="1"/>
          <p:nvPr/>
        </p:nvSpPr>
        <p:spPr>
          <a:xfrm rot="10800000" flipV="1">
            <a:off x="-227" y="6005703"/>
            <a:ext cx="5283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US" sz="1400" b="0" dirty="0">
                <a:latin typeface="+mn-lt"/>
                <a:cs typeface="+mn-cs"/>
              </a:rPr>
              <a:t>Laguna, P., Jané, R., &amp; Caminal, P., 1994. Adaptive filtering of ECG baseline wander. IEEE Engineering in Medicine and Biology Magazine, 11(6), pp. 30-35</a:t>
            </a:r>
            <a:r>
              <a:rPr lang="en-IN" sz="1400" dirty="0"/>
              <a:t> </a:t>
            </a:r>
          </a:p>
        </p:txBody>
      </p:sp>
      <p:pic>
        <p:nvPicPr>
          <p:cNvPr id="18" name="Picture 17" descr="Block Diagram for Adaptive noise cancellation process ">
            <a:extLst>
              <a:ext uri="{FF2B5EF4-FFF2-40B4-BE49-F238E27FC236}">
                <a16:creationId xmlns:a16="http://schemas.microsoft.com/office/drawing/2014/main" id="{FED14179-19CA-789A-D2E5-BA5DB931C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946" y="1078211"/>
            <a:ext cx="4211545" cy="331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AAE999-4981-4F6E-0370-590911C799F5}"/>
              </a:ext>
            </a:extLst>
          </p:cNvPr>
          <p:cNvSpPr txBox="1"/>
          <p:nvPr/>
        </p:nvSpPr>
        <p:spPr>
          <a:xfrm>
            <a:off x="8286547" y="873381"/>
            <a:ext cx="223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Block Diagram</a:t>
            </a:r>
            <a:r>
              <a:rPr lang="en-IN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F4AB3-5533-3DD9-3C77-17114E879EFF}"/>
              </a:ext>
            </a:extLst>
          </p:cNvPr>
          <p:cNvSpPr txBox="1"/>
          <p:nvPr/>
        </p:nvSpPr>
        <p:spPr>
          <a:xfrm>
            <a:off x="10343535" y="5734864"/>
            <a:ext cx="19664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Testing with large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Documentation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993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02FE22BEC005 .</dc:creator>
  <cp:lastModifiedBy>02FE22BEC005 .</cp:lastModifiedBy>
  <cp:revision>4</cp:revision>
  <dcterms:created xsi:type="dcterms:W3CDTF">2025-01-01T10:06:24Z</dcterms:created>
  <dcterms:modified xsi:type="dcterms:W3CDTF">2025-01-02T05:45:33Z</dcterms:modified>
</cp:coreProperties>
</file>